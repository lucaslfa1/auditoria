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b420666ae84083" /><Relationship Type="http://schemas.openxmlformats.org/officeDocument/2006/relationships/extended-properties" Target="/docProps/app.xml" Id="Ra4854116fc4b4cc3" /><Relationship Type="http://schemas.openxmlformats.org/officeDocument/2006/relationships/officeDocument" Target="/ppt/presentation.xml" Id="R1a7cb410632b46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410c6b7fc64649"/>
  </p:sldMasterIdLst>
  <p:notesMasterIdLst>
    <p:notesMasterId xmlns:r="http://schemas.openxmlformats.org/officeDocument/2006/relationships" r:id="R44c0f213a02c479c"/>
  </p:notesMasterIdLst>
  <p:sldIdLst>
    <p:sldId xmlns:r="http://schemas.openxmlformats.org/officeDocument/2006/relationships" id="256" r:id="R9784fd97629a4155"/>
    <p:sldId xmlns:r="http://schemas.openxmlformats.org/officeDocument/2006/relationships" id="257" r:id="R758e508a6fb64249"/>
    <p:sldId xmlns:r="http://schemas.openxmlformats.org/officeDocument/2006/relationships" id="258" r:id="R58fa540baa1547da"/>
    <p:sldId xmlns:r="http://schemas.openxmlformats.org/officeDocument/2006/relationships" id="259" r:id="R5900a81b7e2b41cd"/>
    <p:sldId xmlns:r="http://schemas.openxmlformats.org/officeDocument/2006/relationships" id="260" r:id="R79d3c8419b654376"/>
    <p:sldId xmlns:r="http://schemas.openxmlformats.org/officeDocument/2006/relationships" id="261" r:id="R8848ea39eade4622"/>
    <p:sldId xmlns:r="http://schemas.openxmlformats.org/officeDocument/2006/relationships" id="262" r:id="R2821d9100a5f4a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10c6b7fc64649" /><Relationship Type="http://schemas.openxmlformats.org/officeDocument/2006/relationships/theme" Target="/ppt/theme/theme1.xml" Id="Rf69d6a5978de4d2c" /><Relationship Type="http://schemas.openxmlformats.org/officeDocument/2006/relationships/notesMaster" Target="/ppt/notesMasters/notesMaster1.xml" Id="R44c0f213a02c479c" /><Relationship Type="http://schemas.openxmlformats.org/officeDocument/2006/relationships/presProps" Target="/ppt/presProps.xml" Id="R1e26b4d0483642a7" /><Relationship Type="http://schemas.openxmlformats.org/officeDocument/2006/relationships/viewProps" Target="/ppt/viewProps.xml" Id="Ra6a4eb06d15b46d4" /><Relationship Type="http://schemas.openxmlformats.org/officeDocument/2006/relationships/tableStyles" Target="/ppt/tableStyles.xml" Id="R9f61cf18f1f34417" /><Relationship Type="http://schemas.openxmlformats.org/officeDocument/2006/relationships/slide" Target="/ppt/slides/slide1.xml" Id="R9784fd97629a4155" /><Relationship Type="http://schemas.openxmlformats.org/officeDocument/2006/relationships/slide" Target="/ppt/slides/slide2.xml" Id="R758e508a6fb64249" /><Relationship Type="http://schemas.openxmlformats.org/officeDocument/2006/relationships/slide" Target="/ppt/slides/slide3.xml" Id="R58fa540baa1547da" /><Relationship Type="http://schemas.openxmlformats.org/officeDocument/2006/relationships/slide" Target="/ppt/slides/slide4.xml" Id="R5900a81b7e2b41cd" /><Relationship Type="http://schemas.openxmlformats.org/officeDocument/2006/relationships/slide" Target="/ppt/slides/slide5.xml" Id="R79d3c8419b654376" /><Relationship Type="http://schemas.openxmlformats.org/officeDocument/2006/relationships/slide" Target="/ppt/slides/slide6.xml" Id="R8848ea39eade4622" /><Relationship Type="http://schemas.openxmlformats.org/officeDocument/2006/relationships/slide" Target="/ppt/slides/slide7.xml" Id="R2821d9100a5f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c75a5d39724d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42c49b0dce489f" /><Relationship Type="http://schemas.openxmlformats.org/officeDocument/2006/relationships/notesMaster" Target="/ppt/notesMasters/notesMaster1.xml" Id="Rd0cb9cb887ea42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831fe6b8248f3" /><Relationship Type="http://schemas.openxmlformats.org/officeDocument/2006/relationships/notesMaster" Target="/ppt/notesMasters/notesMaster1.xml" Id="R97a107a7220841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e7df8bcf69464c" /><Relationship Type="http://schemas.openxmlformats.org/officeDocument/2006/relationships/notesMaster" Target="/ppt/notesMasters/notesMaster1.xml" Id="R09ee50fc5884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83f4d13a314619" /><Relationship Type="http://schemas.openxmlformats.org/officeDocument/2006/relationships/notesMaster" Target="/ppt/notesMasters/notesMaster1.xml" Id="R035154e7b65e4f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fcc844640e4f57" /><Relationship Type="http://schemas.openxmlformats.org/officeDocument/2006/relationships/notesMaster" Target="/ppt/notesMasters/notesMaster1.xml" Id="R80cabff5189148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22117d465d457b" /><Relationship Type="http://schemas.openxmlformats.org/officeDocument/2006/relationships/notesMaster" Target="/ppt/notesMasters/notesMaster1.xml" Id="Rbc31eb1b3d7848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9c4522934f4e73" /><Relationship Type="http://schemas.openxmlformats.org/officeDocument/2006/relationships/notesMaster" Target="/ppt/notesMasters/notesMaster1.xml" Id="Rc607c4df4fd44d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Premissas: 1.484 ligações/mês, média de 5 minutos, ~124 horas/mês. Cenário conservador WAV/STT: ~14 GB/mês. Neon storage extra: US$ 0,35/GB-mês, convertido a R$ 5,00 com provisão de IOF, impostos e spread.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a60e408534381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f785607dc174c53" /><Relationship Type="http://schemas.openxmlformats.org/officeDocument/2006/relationships/slideLayout" Target="/ppt/slideLayouts/slideLayout2.xml" Id="R1ba2595322ba480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a2595322ba4806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246640e7e94646" /><Relationship Type="http://schemas.openxmlformats.org/officeDocument/2006/relationships/notesSlide" Target="/ppt/notesSlides/notesSlide1.xml" Id="R496fe192f95443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88a843b0944428" /><Relationship Type="http://schemas.openxmlformats.org/officeDocument/2006/relationships/notesSlide" Target="/ppt/notesSlides/notesSlide2.xml" Id="Refdff6ee94a846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a84ede0c92443e" /><Relationship Type="http://schemas.openxmlformats.org/officeDocument/2006/relationships/notesSlide" Target="/ppt/notesSlides/notesSlide3.xml" Id="R88ea4170172b4c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2dda215ee24715" /><Relationship Type="http://schemas.openxmlformats.org/officeDocument/2006/relationships/notesSlide" Target="/ppt/notesSlides/notesSlide4.xml" Id="Rf332502577c04b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e5f0492aa849d1" /><Relationship Type="http://schemas.openxmlformats.org/officeDocument/2006/relationships/notesSlide" Target="/ppt/notesSlides/notesSlide5.xml" Id="R2a23ed1d2da54b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704c326c11433f" /><Relationship Type="http://schemas.openxmlformats.org/officeDocument/2006/relationships/notesSlide" Target="/ppt/notesSlides/notesSlide6.xml" Id="Rd2cb7708e010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242ac9036b43d6" /><Relationship Type="http://schemas.openxmlformats.org/officeDocument/2006/relationships/notesSlide" Target="/ppt/notesSlides/notesSlide7.xml" Id="Rc916d610880a44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3C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DFC0D5-71A8-4911-B63D-74606C6D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23160"/>
            <a:ext cx="48006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Custo Neon</a:t>
            </a:r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Banco + Áudios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B9C9002-C531-43F8-BC59-E76096AE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13632"/>
            <a:ext cx="5120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Estimativa mensal considerando que os áudios serão armazenados, mas fora do banco Neon/Postgres.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138646F-C179-4E33-A7C5-5041CA12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41164"/>
            <a:ext cx="1572768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2A6AFC9-944A-4478-BE21-03F5934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85089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212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8C2FC-A2FA-409D-B827-33FB387C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106924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operadores</a:t>
            </a:r>
          </a:p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auditáveis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9289267-29D1-42EE-BA63-A8B2464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4741164"/>
            <a:ext cx="1572768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61BB77E-083C-4587-BA44-7BAF8E08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5089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7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E9A74A6-0D9C-433D-8871-D165863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5106924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ligações/op./mês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F85F32E-6395-477C-AD78-F795C679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4741164"/>
            <a:ext cx="1737360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3E9CB40-9098-4D04-A0E9-379BCED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850892"/>
            <a:ext cx="14447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1.484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692796A-233A-4D92-9135-C4CE54DD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5106924"/>
            <a:ext cx="151790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ligações/mês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FBF396D-8891-4CFC-8729-7FA0612C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6382512"/>
            <a:ext cx="4434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Áudio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original = dado 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bruto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. Neon 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guarda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metadados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, 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transcrição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, 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classificação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e link 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seguro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para 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localizar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o 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arquivo</a:t>
            </a: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9819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FC454B5-02D5-4CDC-AFE3-4756074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 que é dado bruto?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3DB6DE3-FA80-481E-8851-9F2DCF6E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Dado bruto é o arquivo original da ligação, antes de transcrição, classificação ou auditoria.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C893FDF-1ECA-4241-B084-5081D6C3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924D19F-89F7-483B-BC19-ED744DF8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F10077-54F4-4245-90C0-AEB1AD9A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9BD802-16EB-4ABC-9055-04DBD910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274320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3B5ED11-333D-45FF-8DB1-5E83B125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99032"/>
            <a:ext cx="1243584" cy="429768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3C02"/>
          </a:solidFill>
          <a:ln xmlns:a="http://schemas.openxmlformats.org/drawingml/2006/main" w="12700">
            <a:solidFill>
              <a:srgbClr val="FF3C0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84FF9E7-AC33-4030-AC31-CEE3A74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81912"/>
            <a:ext cx="106070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Dentro da Neon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96D9CE-D421-4659-80AF-87A2058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56816"/>
            <a:ext cx="226771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Metadados da chamada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Transcrição consultável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Classificação e motivo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Resultado da auditoria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Link, hash e status do áudio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38FCCCA-4267-44D1-9963-32EEFA4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19856"/>
            <a:ext cx="2743200" cy="179222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3BF3A4D-C8D8-450D-9C5E-D6E3726E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1188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07A2F4-500A-41A0-8422-B9CBF0D6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75888"/>
            <a:ext cx="12435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Fora da Neon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EF6F94-BD03-470E-A37F-107ACBE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959352"/>
            <a:ext cx="228600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Arquivo bruto de áudio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GCS/Huawei OBS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Backups e retenção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Reprocessamento futuro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Evidência para replay</a:t>
            </a:r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3767328" y="1325880"/>
          <a:ext xmlns:a="http://schemas.openxmlformats.org/drawingml/2006/main" cx="7406640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52578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Tipo de informação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Onde guardar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 original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Huawei OBS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Transcrição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Classificação e motivo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Resultado da auditoria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Caminho do áudio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Hash/checksum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Retenção e backup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Storage externo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IOF, impostos e spread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Provisão</a:t>
                      </a: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 no </a:t>
                      </a: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orçamento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D3C42FF-3AAE-4446-80E1-6D5AD5F6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5029200"/>
            <a:ext cx="7315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5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Resumo: o sistema não precisa colocar o áudio dentro da Neon, mas precisa guardar a referência do arquivo para auditoria, replay e reprocessamento.</a:t>
            </a:r>
          </a:p>
        </p:txBody>
      </p:sp>
    </p:spTree>
    <p:extLst>
      <p:ext uri="{BB962C8B-B14F-4D97-AF65-F5344CB8AC3E}">
        <p14:creationId xmlns:p14="http://schemas.microsoft.com/office/powerpoint/2010/main" val="2144003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EC2CFB-207C-43C3-8F82-4CD7553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Estado atual do Neon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9BCFEBD-085C-4644-8EE9-046335C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O projeto atual ainda está pequeno porque o banco guarda principalmente dados estruturados.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F538808-5C6A-42FD-90BD-93932A0C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FBFE75-C018-4D35-82E5-930FB58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AD6CAC-04EA-406D-A8D7-AF847DB5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658368" y="1353312"/>
          <a:ext xmlns:a="http://schemas.openxmlformats.org/drawingml/2006/main" cx="6492240" cy="2103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3246120"/>
                <a:gridCol w="16002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Métrica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Valor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Leitura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Banco de produção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22 MB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Muito abaixo de 10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Projeto com branches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91 MB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Ainda muito baixo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Transferência atual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~0,3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Baixa no projeto novo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Cota atual Free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/>
                        <a:t>~5,</a:t>
                      </a:r>
                      <a:r>
                        <a:rPr/>
                        <a:t>0</a:t>
                      </a:r>
                      <a:r>
                        <a:rPr/>
                        <a:t>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Alerta</a:t>
                      </a: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 de </a:t>
                      </a: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cota</a:t>
                      </a: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/Free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1E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E9E154C-B3EE-4A1D-BEBE-9179CC46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490472"/>
            <a:ext cx="3310128" cy="960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3C0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6096DC3-14BF-4A85-BE13-B53D0EA0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1719072"/>
            <a:ext cx="2761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22 MB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0C01F0F-8CD8-4F50-A118-6A10D24E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011680"/>
            <a:ext cx="29077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tamanho atual do banco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8D67F77-CD95-4594-AD15-1D49F6E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715768"/>
            <a:ext cx="1572768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D1B220A-061D-45C6-9C66-52082E1B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944368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91 MB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66E43F0-8846-400F-9C12-28CE6BA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218688"/>
            <a:ext cx="14264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projeto somando branches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E3EEB26-4A54-49A2-B04B-F6661AA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715768"/>
            <a:ext cx="1572768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61EBFBF-A602-48F2-BAC1-731282B4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944368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0,3 GB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30F46DA-91B0-4604-A6C3-7CC6D51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18688"/>
            <a:ext cx="14264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transferência no projeto novo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44542EE-1E9B-455F-A56C-AF804B7E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877056"/>
            <a:ext cx="3310128" cy="149047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12700">
            <a:solidFill>
              <a:srgbClr val="FFD0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FA3F2BD-604F-451E-95B4-A3F284C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078224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Leitura prática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E4BF475-6CEA-4D43-9870-DDD44574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4315968"/>
            <a:ext cx="2743200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 Neon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está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muito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abaixo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de 10 GB. O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aumento de consumo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aparece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se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os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áudios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originais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forem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gravados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no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Neon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ou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se dashboards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puxarem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transcrições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completas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com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muita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frequência</a:t>
            </a: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595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DA1733-06AC-4155-AD67-B412DF7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 bruto: onde armazenar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6B4477-C118-4F3C-AD48-A37FB360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59536"/>
            <a:ext cx="8229600" cy="240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Total que o plano de assinatura cobre com 10 GB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97B74B-2137-4280-BDD5-805E8C80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2E75928-3C62-4AE4-80C3-D2850C79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44D80B5-1E48-4ECC-9319-6D5C52C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922D18-DF35-4D39-8D76-6D86AB1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3090672" cy="1234440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DEFE9"/>
          </a:solidFill>
          <a:ln xmlns:a="http://schemas.openxmlformats.org/drawingml/2006/main" w="12700">
            <a:solidFill>
              <a:srgbClr val="F7B9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F00CE75-C76B-4E9E-A190-82CB0FD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08760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Arquitetura sem guardar </a:t>
            </a:r>
            <a:r>
              <a:rPr sz="11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audio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544FDC-737D-4A17-8100-27DBDD4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56232"/>
            <a:ext cx="24140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</a:t>
            </a: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bruto</a:t>
            </a: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fora da Neon</a:t>
            </a: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em </a:t>
            </a: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Huawei OBS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82D255-9E66-49E6-B582-362B3C81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3090672" cy="1298448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B77FC90-EF32-4227-B187-95CACAC7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26664"/>
            <a:ext cx="241401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Banco guarda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34B61F-E87B-47D3-9BCB-9E2AE6B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64408"/>
            <a:ext cx="248716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Metadados, transcrição,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classificação e link do áudio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4F3DB0F-3554-4DF3-BD95-D3AC6EC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85032"/>
            <a:ext cx="2423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graphicFrame>
        <p:nvGraphicFramePr>
          <p:cNvPr id="22" name="Table 0"/>
          <p:cNvGraphicFramePr/>
          <p:nvPr/>
        </p:nvGraphicFramePr>
        <p:xfrm>
          <a:off xmlns:a="http://schemas.openxmlformats.org/drawingml/2006/main" x="4041648" y="1426464"/>
          <a:ext xmlns:a="http://schemas.openxmlformats.org/drawingml/2006/main" cx="7150608" cy="21076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8720"/>
                <a:gridCol w="2194560"/>
                <a:gridCol w="1737360"/>
                <a:gridCol w="2029968"/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Cenário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Crescimento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10 GB?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Leitura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 fora do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&lt;0,1 GB/mês na Neon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Sim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Desenho recomendado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Brutos comprimidos no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~2,8 GB/mês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Sim no </a:t>
                      </a: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início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Não recomendado comprimir arquivos pode causar travas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Brutos WAV no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~14 GB/mês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Estoura</a:t>
                      </a: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 </a:t>
                      </a: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rápido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94702A1-04FA-4711-B5F6-548EB56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023360"/>
            <a:ext cx="7150608" cy="969264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2CF2FCC-426D-4E6B-BD47-170F8A4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242816"/>
            <a:ext cx="9144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Conclusão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6F661D8-8086-4983-81B8-42E08D57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462272"/>
            <a:ext cx="6492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Pode ser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feito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sem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bruto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dentro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do banco.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Não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é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recomendado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operar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sem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guardar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o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em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algum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repositório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, pois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isso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reduz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replay,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evidência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e 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reprocessamento</a:t>
            </a: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8592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86431C7-96CA-418F-BCC9-039AA4A4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Impacto no orçamento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7295B9E-A2EE-4A37-9AD2-8E3BFBEF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Valores 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em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 reais para Neon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 com arquivos de áudios 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separado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s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em armazenamento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externo</a:t>
            </a: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ADD1A1-B088-4D62-8337-8F5FFB6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CBBC66F-4C8A-4B18-9599-4177BDC0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D92643-276C-4A13-AF97-3CCBDDFC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812436C-FDF3-4C8B-B746-571D299A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29ECCD-0987-48FF-BFB9-30275826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37429FB-93A8-41DC-AF01-956D698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Neon </a:t>
            </a: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atual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91752F-85FE-4767-9683-B22E2EF8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~R$ 45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C1DE2BF-E5E0-46A8-BB9E-F0B7AE8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E95D43E-E4F7-40E6-BAE1-16EBCBC0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C23E97F-2387-4A90-8FDA-AAB45991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6D82CC-DC0B-4F38-A636-81F62002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~R$ 0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32917C7-6D4C-4C1A-95F4-9EE8FEF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storage extra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2935A71-4C50-4BD8-AFAA-82DBD440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&lt; 10 GB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C24EA07-ED2D-4CB4-B57A-B366D7B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uso atual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CAD7A19-8718-4B14-9DDA-A6EFB505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537A822-FB12-4F7C-B169-3D76071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3C02"/>
          </a:solidFill>
          <a:ln xmlns:a="http://schemas.openxmlformats.org/drawingml/2006/main" w="12700">
            <a:solidFill>
              <a:srgbClr val="FF3C0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E718BA2-A9C3-4C0F-8DE8-16FDB20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Neon base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79831D-CAE4-4CDF-B5C5-D3FB03B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R$ 80-160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D16D81F-243F-4D67-B5D5-DCB0BDAD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4094DFE-4910-4176-BF8E-9C66140B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FFC268E-9C39-4E3E-8E29-31472F0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819ABB4-1C8A-468F-8EF7-439BF69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Launch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F0483CE-2CA0-4A1E-9490-5D75C39F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recomendado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E143C5E-1EF8-429E-ABA9-B95F289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100 GB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B5F5D87-73EA-41D1-81D7-79180AA7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egress incluído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4E39AB6-DC78-4460-94AC-93CC42A4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FCF2179-522F-43EC-ABD4-B7712ED2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2700">
            <a:solidFill>
              <a:srgbClr val="10101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B072918-A363-4F7E-B033-0FA4A06E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Uso pesado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F3F7F71-97D0-46BF-97F6-987934C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R$ 270-430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D671CE9-9DE6-4100-8C6A-5919C243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CD55DB2-1E03-4E75-8143-61A582C2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D3083AF-8A15-4640-96CB-9FCDDE3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155FEFC8-BE33-4161-81D1-40DB14E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dashboards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41D39B49-5B7D-4CBF-862A-732D4224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 exports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7FA01EE6-D240-417C-8012-EF7F94EC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&gt;100 GB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B4ED6AD8-CBE2-4D73-8A27-3CFB17C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monitorar egress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AEC8CEEA-FDE1-4E29-A9C4-7BAFECC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34840"/>
            <a:ext cx="9144000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98AFF9A-B60A-4503-91D1-755E73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709160"/>
            <a:ext cx="8732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 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custo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acima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é do banco Neon. O storage dos 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áudios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em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Huawei OBS 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deve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ser 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orçado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 à 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parte</a:t>
            </a: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4089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5F82DD-1950-4D29-BBDD-BDF6B96E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Recomendação final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23E8B5-17EB-4C2B-A1EA-966BC860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Como armazenar áudios sem transformar a Neon em repositório de arquivos.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76DAD9-C737-420E-97F4-EBDF078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6DA0D9B-FDD7-4502-8F82-47B8DF1B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D1F3A06-D620-409C-892B-6FABACD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4B76CD8-54EA-40D1-927B-5E93AD9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6812280" cy="3529584"/>
          </a:xfrm>
          <a:prstGeom xmlns:a="http://schemas.openxmlformats.org/drawingml/2006/main" prst="roundRect">
            <a:avLst>
              <a:gd name="adj" fmla="val 3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8030129-C46B-4ECF-BB4F-71E45085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09344"/>
            <a:ext cx="63093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1.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Guardar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o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bruto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em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GCS/Huawei OBS, com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política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de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retenção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e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acesso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controlado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2.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Guardar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na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Neon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somente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metadados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,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transcrição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,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classificação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,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motivo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, auditoria, status, hash e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caminho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do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arquivo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3. Usar o link do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para replay,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reprocessamento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e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evidência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,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sem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carregar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o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arquivo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inteiro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em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consultas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comuns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4.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Considerar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IOF,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impostos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, spread e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variação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cambial no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orçamento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,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porque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Neon e storage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externo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podem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cobrar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em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dólar</a:t>
            </a: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8D119A0-9EDC-4ACC-92C4-E0F9EDD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81328"/>
            <a:ext cx="3063240" cy="1444752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12700">
            <a:solidFill>
              <a:srgbClr val="B9C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C52A84-3723-46BA-83CA-21A7F0B0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691640"/>
            <a:ext cx="26517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3E6DF2"/>
                </a:solidFill>
                <a:latin typeface="Bahnschrift"/>
                <a:ea typeface="Bahnschrift"/>
                <a:cs typeface="Bahnschrift"/>
              </a:rPr>
              <a:t>Nota rápida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0E927D1-A761-4C4A-B5D4-B073CCF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01952"/>
            <a:ext cx="2651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 bruto</a:t>
            </a:r>
          </a:p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fora do Postgres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E1AC4BC-50FF-480F-B951-DA37352A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542032"/>
            <a:ext cx="2578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Esse desenho preserva a evidência da chamada e evita crescimento desnecessário no banco.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5EC06D1-3B8E-438F-8F70-F1354014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82112"/>
            <a:ext cx="3063240" cy="1700784"/>
          </a:xfrm>
          <a:prstGeom xmlns:a="http://schemas.openxmlformats.org/drawingml/2006/main" prst="roundRect">
            <a:avLst>
              <a:gd name="adj" fmla="val 7527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12700">
            <a:solidFill>
              <a:srgbClr val="FFC9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8542E1-D104-424D-89F2-2D5F875F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438144"/>
            <a:ext cx="2633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Decisão prática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7A7797C-8289-4034-9E0A-734E686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840480"/>
            <a:ext cx="2633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Sim, o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sistema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pode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operar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sem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dados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brutos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dentro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da Neon. O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que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não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recomendo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é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deixar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de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armazenar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os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áudios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em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um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repositório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externo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.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Verificar se o OBS da 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Hauwei</a:t>
            </a: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 permite esse armazenamento e quanto tempo.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CF5CD96-E530-4FB8-971B-8005B8BE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76672"/>
            <a:ext cx="10149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3C0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9F902E7-2704-4BAB-8CC0-A6F006E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2976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Resumo final: o banco Neon continua abaixo de 10 GB se os áudios ficarem em GCS/Huawei OBS. A Neon deve ser usada para consulta, auditoria e rastreabilidade; o storage externo fica responsável pelos arquivos brutos.</a:t>
            </a:r>
          </a:p>
        </p:txBody>
      </p:sp>
    </p:spTree>
    <p:extLst>
      <p:ext uri="{BB962C8B-B14F-4D97-AF65-F5344CB8AC3E}">
        <p14:creationId xmlns:p14="http://schemas.microsoft.com/office/powerpoint/2010/main" val="409034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DA1733-06AC-4155-AD67-B412DF7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Orçamento com áudio bruto na Neon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6B4477-C118-4F3C-AD48-A37FB360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59536"/>
            <a:ext cx="8229600" cy="240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Cenário solicitado: arquivos de áudio gravados dentro do banco Postgres/Neon.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97B74B-2137-4280-BDD5-805E8C80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2E75928-3C62-4AE4-80C3-D2850C79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44D80B5-1E48-4ECC-9319-6D5C52C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7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922D18-DF35-4D39-8D76-6D86AB1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3090672" cy="1234440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DEFE9"/>
          </a:solidFill>
          <a:ln xmlns:a="http://schemas.openxmlformats.org/drawingml/2006/main" w="12700">
            <a:solidFill>
              <a:srgbClr val="F7B9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F00CE75-C76B-4E9E-A190-82CB0FD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08760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Premissa usada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544FDC-737D-4A17-8100-27DBDD4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56232"/>
            <a:ext cx="24140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WAV/STT ~14 GB/mês</a:t>
            </a:r>
          </a:p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1.484 ligações x 5 min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82D255-9E66-49E6-B582-362B3C81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3090672" cy="1298448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B77FC90-EF32-4227-B187-95CACAC7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26664"/>
            <a:ext cx="241401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Banco guarda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34B61F-E87B-47D3-9BCB-9E2AE6B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64408"/>
            <a:ext cx="248716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áudio bruto + transcrição</a:t>
            </a:r>
          </a:p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metadados e auditoria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4F3DB0F-3554-4DF3-BD95-D3AC6EC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85032"/>
            <a:ext cx="2423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graphicFrame>
        <p:nvGraphicFramePr>
          <p:cNvPr id="22" name="Table 0"/>
          <p:cNvGraphicFramePr/>
          <p:nvPr/>
        </p:nvGraphicFramePr>
        <p:xfrm>
          <a:off xmlns:a="http://schemas.openxmlformats.org/drawingml/2006/main" x="4041648" y="1426464"/>
          <a:ext xmlns:a="http://schemas.openxmlformats.org/drawingml/2006/main" cx="7150608" cy="21076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8720"/>
                <a:gridCol w="2194560"/>
                <a:gridCol w="1737360"/>
                <a:gridCol w="2029968"/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Total no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Acima de 10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Extra/mês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14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4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~R$ 8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6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84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74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~R$ 140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12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168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158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~R$ 300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94702A1-04FA-4711-B5F6-548EB56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023360"/>
            <a:ext cx="7150608" cy="969264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2CF2FCC-426D-4E6B-BD47-170F8A4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242816"/>
            <a:ext cx="9144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Conclusão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6F661D8-8086-4983-81B8-42E08D57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462272"/>
            <a:ext cx="6492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10 GB não atendem se o áudio bruto for mantido dentro do banco. O extra começa baixo, mas cresce mês a mês enquanto não houver retenção ou exclusão dos arquivos.</a:t>
            </a:r>
          </a:p>
        </p:txBody>
      </p:sp>
    </p:spTree>
    <p:extLst>
      <p:ext uri="{BB962C8B-B14F-4D97-AF65-F5344CB8AC3E}">
        <p14:creationId xmlns:p14="http://schemas.microsoft.com/office/powerpoint/2010/main" val="82859265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2026-05-14T20:04:48.2110000Z</dcterms:created>
  <dcterms:modified xsi:type="dcterms:W3CDTF">2026-05-14T20:04:48.2110000Z</dcterms:modified>
</coreProperties>
</file>