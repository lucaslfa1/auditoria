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a16c340ed84548" /><Relationship Type="http://schemas.openxmlformats.org/officeDocument/2006/relationships/extended-properties" Target="/docProps/app.xml" Id="Reed0a5d303164c57" /><Relationship Type="http://schemas.openxmlformats.org/officeDocument/2006/relationships/officeDocument" Target="/ppt/presentation.xml" Id="Rcfcf2564ab15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6947c0568459c"/>
  </p:sldMasterIdLst>
  <p:notesMasterIdLst>
    <p:notesMasterId xmlns:r="http://schemas.openxmlformats.org/officeDocument/2006/relationships" r:id="R203e0fe33aff48f0"/>
  </p:notesMasterIdLst>
  <p:sldIdLst>
    <p:sldId xmlns:r="http://schemas.openxmlformats.org/officeDocument/2006/relationships" id="256" r:id="R4673ae7bb3e94229"/>
    <p:sldId xmlns:r="http://schemas.openxmlformats.org/officeDocument/2006/relationships" id="257" r:id="Rd74a804570a549cb"/>
    <p:sldId xmlns:r="http://schemas.openxmlformats.org/officeDocument/2006/relationships" id="258" r:id="R87f87414b61b48a0"/>
    <p:sldId xmlns:r="http://schemas.openxmlformats.org/officeDocument/2006/relationships" id="259" r:id="R5907bb2a432240a8"/>
    <p:sldId xmlns:r="http://schemas.openxmlformats.org/officeDocument/2006/relationships" id="260" r:id="R1b3581ea311a4adc"/>
    <p:sldId xmlns:r="http://schemas.openxmlformats.org/officeDocument/2006/relationships" id="261" r:id="R0cad8b9f9a5a45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6947c0568459c" /><Relationship Type="http://schemas.openxmlformats.org/officeDocument/2006/relationships/theme" Target="/ppt/theme/theme1.xml" Id="R6bf9aed395024973" /><Relationship Type="http://schemas.openxmlformats.org/officeDocument/2006/relationships/notesMaster" Target="/ppt/notesMasters/notesMaster1.xml" Id="R203e0fe33aff48f0" /><Relationship Type="http://schemas.openxmlformats.org/officeDocument/2006/relationships/presProps" Target="/ppt/presProps.xml" Id="Re2b27c9b9d7d4261" /><Relationship Type="http://schemas.openxmlformats.org/officeDocument/2006/relationships/viewProps" Target="/ppt/viewProps.xml" Id="R0d17ca6189f24056" /><Relationship Type="http://schemas.openxmlformats.org/officeDocument/2006/relationships/tableStyles" Target="/ppt/tableStyles.xml" Id="R21470ed805144265" /><Relationship Type="http://schemas.openxmlformats.org/officeDocument/2006/relationships/slide" Target="/ppt/slides/slide1.xml" Id="R4673ae7bb3e94229" /><Relationship Type="http://schemas.openxmlformats.org/officeDocument/2006/relationships/slide" Target="/ppt/slides/slide2.xml" Id="Rd74a804570a549cb" /><Relationship Type="http://schemas.openxmlformats.org/officeDocument/2006/relationships/slide" Target="/ppt/slides/slide3.xml" Id="R87f87414b61b48a0" /><Relationship Type="http://schemas.openxmlformats.org/officeDocument/2006/relationships/slide" Target="/ppt/slides/slide4.xml" Id="R5907bb2a432240a8" /><Relationship Type="http://schemas.openxmlformats.org/officeDocument/2006/relationships/slide" Target="/ppt/slides/slide5.xml" Id="R1b3581ea311a4adc" /><Relationship Type="http://schemas.openxmlformats.org/officeDocument/2006/relationships/slide" Target="/ppt/slides/slide6.xml" Id="R0cad8b9f9a5a45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39b491d545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dafcbd7df4430" /><Relationship Type="http://schemas.openxmlformats.org/officeDocument/2006/relationships/notesMaster" Target="/ppt/notesMasters/notesMaster1.xml" Id="R25d5773ca390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8bfa90f33548b1" /><Relationship Type="http://schemas.openxmlformats.org/officeDocument/2006/relationships/notesMaster" Target="/ppt/notesMasters/notesMaster1.xml" Id="R2beadf906f124f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9dc45c9c24bf6" /><Relationship Type="http://schemas.openxmlformats.org/officeDocument/2006/relationships/notesMaster" Target="/ppt/notesMasters/notesMaster1.xml" Id="R29accb0a3b8d48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0b96300a545c4" /><Relationship Type="http://schemas.openxmlformats.org/officeDocument/2006/relationships/notesMaster" Target="/ppt/notesMasters/notesMaster1.xml" Id="R9483abc6417443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da387003194318" /><Relationship Type="http://schemas.openxmlformats.org/officeDocument/2006/relationships/notesMaster" Target="/ppt/notesMasters/notesMaster1.xml" Id="R58802a7c6e6a42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b42528479d4e35" /><Relationship Type="http://schemas.openxmlformats.org/officeDocument/2006/relationships/notesMaster" Target="/ppt/notesMasters/notesMaster1.xml" Id="R4d0c1a379b3a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Conversão usada: US$ 1 = cerca de R$ 5,00. Valores com provisão para IOF, impostos e spread.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Conversão usada: US$ 1 = cerca de R$ 5,00. Valores com provisão para IOF, impostos e spread.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Conversão usada: US$ 1 = cerca de R$ 5,00. Valores com provisão para IOF, impostos e spread.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Conversão usada: US$ 1 = cerca de R$ 5,00. Valores com provisão para IOF, impostos e spread.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Conversão usada: US$ 1 = cerca de R$ 5,00. Valores com provisão para IOF, impostos e spread.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Conversão usada: US$ 1 = cerca de R$ 5,00. Valores com provisão para IOF, impostos e spread.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82e4dd0ac4889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b3f287629f24196" /><Relationship Type="http://schemas.openxmlformats.org/officeDocument/2006/relationships/slideLayout" Target="/ppt/slideLayouts/slideLayout2.xml" Id="R80e2889f44e847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2889f44e84734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92321425214235" /><Relationship Type="http://schemas.openxmlformats.org/officeDocument/2006/relationships/notesSlide" Target="/ppt/notesSlides/notesSlide1.xml" Id="Rf84442ed1dbb47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22cd91733431f" /><Relationship Type="http://schemas.openxmlformats.org/officeDocument/2006/relationships/notesSlide" Target="/ppt/notesSlides/notesSlide2.xml" Id="Rb8fdeaaf824f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9b19f94c44d0e" /><Relationship Type="http://schemas.openxmlformats.org/officeDocument/2006/relationships/notesSlide" Target="/ppt/notesSlides/notesSlide3.xml" Id="R59b72afaf76445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ff7d1b2e74b81" /><Relationship Type="http://schemas.openxmlformats.org/officeDocument/2006/relationships/notesSlide" Target="/ppt/notesSlides/notesSlide4.xml" Id="R905e862539c549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2a6164a4f4a50" /><Relationship Type="http://schemas.openxmlformats.org/officeDocument/2006/relationships/notesSlide" Target="/ppt/notesSlides/notesSlide5.xml" Id="R6ffc598728fe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efdf688a3444f" /><Relationship Type="http://schemas.openxmlformats.org/officeDocument/2006/relationships/notesSlide" Target="/ppt/notesSlides/notesSlide6.xml" Id="Ra55425d36c11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3C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DFC0D5-71A8-4911-B63D-74606C6D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23160"/>
            <a:ext cx="48006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Custo Neon</a:t>
            </a:r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Banco de Dados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B9C9002-C531-43F8-BC59-E76096A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13632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Estimativa mensal para o banco Neon do projeto Auditoria, com base no ambiente atual auditoria-nstech-2.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138646F-C179-4E33-A7C5-5041CA1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504688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2A6AFC9-944A-4478-BE21-03F593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614416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212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8C2FC-A2FA-409D-B827-33FB387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5870448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operadores</a:t>
            </a:r>
          </a:p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auditáveis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9289267-29D1-42EE-BA63-A8B2464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504688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61BB77E-083C-4587-BA44-7BAF8E08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614416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E9A74A6-0D9C-433D-8871-D165863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870448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ligações/op./mês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F85F32E-6395-477C-AD78-F795C67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504688"/>
            <a:ext cx="1737360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3E9CB40-9098-4D04-A0E9-379BCED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614416"/>
            <a:ext cx="14447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1.484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692796A-233A-4D92-9135-C4CE54D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5870448"/>
            <a:ext cx="151790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ligações/mês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AEE13C6-CA61-423E-8866-3819AB5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6236208"/>
            <a:ext cx="5102352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E6DF2"/>
          </a:solidFill>
          <a:ln xmlns:a="http://schemas.openxmlformats.org/drawingml/2006/main" w="12700">
            <a:solidFill>
              <a:srgbClr val="3E6D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723370F-C2E3-47BE-AFC9-61B00D6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6336792"/>
            <a:ext cx="473659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Referência de câmbio  US$ 1 = cerca de R$ 5,00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FBF396D-8891-4CFC-8729-7FA0612C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6382512"/>
            <a:ext cx="4434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Valores arredondados para orçamento interno. A análise considera provisão para IOF, impostos e spread cambial, além do tratamento dos arquivos brutos de áudio fora da Neon.</a:t>
            </a:r>
          </a:p>
        </p:txBody>
      </p:sp>
    </p:spTree>
    <p:extLst>
      <p:ext uri="{BB962C8B-B14F-4D97-AF65-F5344CB8AC3E}">
        <p14:creationId xmlns:p14="http://schemas.microsoft.com/office/powerpoint/2010/main" val="1399819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C454B5-02D5-4CDC-AFE3-4756074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Premissas do orçamento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DB6DE3-FA80-481E-8851-9F2DCF6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 estimativa considera o volume mínimo de auditoria informado e o desenho atual da aplicação.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C893FDF-1ECA-4241-B084-5081D6C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24D19F-89F7-483B-BC19-ED744DF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F10077-54F4-4245-90C0-AEB1AD9A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9BD802-16EB-4ABC-9055-04DBD91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274320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B5ED11-333D-45FF-8DB1-5E83B12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17904"/>
            <a:ext cx="124358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84FF9E7-AC33-4030-AC31-CEE3A74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81912"/>
            <a:ext cx="106070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Incluído na análise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96D9CE-D421-4659-80AF-87A2058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56816"/>
            <a:ext cx="226771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Projeto Neon auditoria-nstech-2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Banco de produção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Storage, compute e transferência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Conversão para reais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Provisão para IOF, impostos e spread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Risco de uso em dashboards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8FCCCA-4267-44D1-9963-32EEFA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19856"/>
            <a:ext cx="2743200" cy="1572768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BF3A4D-C8D8-450D-9C5E-D6E3726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1188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07A2F4-500A-41A0-8422-B9CBF0D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75888"/>
            <a:ext cx="12435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Fora da Neon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EF6F94-BD03-470E-A37F-107ACBE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59352"/>
            <a:ext cx="2286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Arquivos brutos de áudio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GCS/Huawei OBS fora do banco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Azure OpenAI/STT/LLM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Dash/Power BI e camadas externas</a:t>
            </a:r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3767328" y="1325880"/>
          <a:ext xmlns:a="http://schemas.openxmlformats.org/drawingml/2006/main" cx="7406640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52578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Premissa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Valor adotado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Neon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auditoria-nstech-2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Operadores auditáveis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212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Ligações mensais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1.484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Duração média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5 minutos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mensal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~124 horas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Câmbio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US$ 1 = cerca de R$ 5,00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Arquivos brutos de áudio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GCS/Huawei OBS fora do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IOF, impostos e spread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Provisão de 6% a 8%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D3C42FF-3AAE-4446-80E1-6D5AD5F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502920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 Neon cobra em dólar. Para facilitar a leitura, os valores foram convertidos por câmbio redondo de R$ 5,00 e receberam uma provisão cambial e fiscal.</a:t>
            </a:r>
          </a:p>
        </p:txBody>
      </p:sp>
    </p:spTree>
    <p:extLst>
      <p:ext uri="{BB962C8B-B14F-4D97-AF65-F5344CB8AC3E}">
        <p14:creationId xmlns:p14="http://schemas.microsoft.com/office/powerpoint/2010/main" val="2144003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EC2CFB-207C-43C3-8F82-4CD7553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Estado atual do Neon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BCFEBD-085C-4644-8EE9-046335C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 projeto atual ainda está pequeno. O histórico do projeto anterior foi usado apenas como alerta de cota.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F538808-5C6A-42FD-90BD-93932A0C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FBFE75-C018-4D35-82E5-930FB58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AD6CAC-04EA-406D-A8D7-AF847DB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658368" y="1353312"/>
          <a:ext xmlns:a="http://schemas.openxmlformats.org/drawingml/2006/main" cx="6492240" cy="2103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246120"/>
                <a:gridCol w="16002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Métrica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Valor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Banco de produção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22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Muito abaixo de 10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com branches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91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Ainda muito baixo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Transferência atual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~0,3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Baixa no projeto novo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antigo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/>
                        <a:t>~5,5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Alerta de cota/Free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E9E154C-B3EE-4A1D-BEBE-9179CC4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490472"/>
            <a:ext cx="3310128" cy="960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6096DC3-14BF-4A85-BE13-B53D0EA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719072"/>
            <a:ext cx="2761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22 MB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C01F0F-8CD8-4F50-A118-6A10D24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011680"/>
            <a:ext cx="29077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tamanho atual do banco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8D67F77-CD95-4594-AD15-1D49F6E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D1B220A-061D-45C6-9C66-52082E1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91 MB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66E43F0-8846-400F-9C12-28CE6BA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projeto somando branches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3EEB26-4A54-49A2-B04B-F6661AA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61EBFBF-A602-48F2-BAC1-731282B4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0,3 GB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30F46DA-91B0-4604-A6C3-7CC6D51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transferência no projeto novo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44542EE-1E9B-455F-A56C-AF804B7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877056"/>
            <a:ext cx="3310128" cy="149047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12700">
            <a:solidFill>
              <a:srgbClr val="FFD0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FA3F2BD-604F-451E-95B4-A3F284C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078224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Leitura prática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E4BF475-6CEA-4D43-9870-DDD4457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315968"/>
            <a:ext cx="274320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 banco está bem abaixo de 10 GB. A atenção deve ficar em transferência de dados, dashboards, exports e consultas que puxam transcrições completas.</a:t>
            </a:r>
          </a:p>
        </p:txBody>
      </p:sp>
    </p:spTree>
    <p:extLst>
      <p:ext uri="{BB962C8B-B14F-4D97-AF65-F5344CB8AC3E}">
        <p14:creationId xmlns:p14="http://schemas.microsoft.com/office/powerpoint/2010/main" val="1190595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DA1733-06AC-4155-AD67-B412DF7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Armazenamento e desenho correto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6B4477-C118-4F3C-AD48-A37FB36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 Neon deve guardar os dados da auditoria; os arquivos brutos devem permanecer fora do banco.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97B74B-2137-4280-BDD5-805E8C8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E75928-3C62-4AE4-80C3-D2850C79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4D80B5-1E48-4ECC-9319-6D5C52C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922D18-DF35-4D39-8D76-6D86AB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309067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DEFE9"/>
          </a:solidFill>
          <a:ln xmlns:a="http://schemas.openxmlformats.org/drawingml/2006/main" w="12700">
            <a:solidFill>
              <a:srgbClr val="F7B9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00CE75-C76B-4E9E-A190-82CB0FD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Desenho recomendado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544FDC-737D-4A17-8100-27DBDD4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24140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Arquivos brutos fora da Neon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GCS / local / Huawei OBS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82D255-9E66-49E6-B582-362B3C8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3090672" cy="1298448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77FC90-EF32-4227-B187-95CACAC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4140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Banco guarda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34B61F-E87B-47D3-9BCB-9E2AE6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64408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Transcrição e resultado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metadados e referências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F3DB0F-3554-4DF3-BD95-D3AC6EC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85032"/>
            <a:ext cx="2423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/>
            </a:r>
          </a:p>
        </p:txBody>
      </p:sp>
      <p:graphicFrame>
        <p:nvGraphicFramePr>
          <p:cNvPr id="22" name="Table 0"/>
          <p:cNvGraphicFramePr/>
          <p:nvPr/>
        </p:nvGraphicFramePr>
        <p:xfrm>
          <a:off xmlns:a="http://schemas.openxmlformats.org/drawingml/2006/main" x="4041648" y="1426464"/>
          <a:ext xmlns:a="http://schemas.openxmlformats.org/drawingml/2006/main" cx="7150608" cy="197510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029968"/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Cenário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Crescimento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10 GB?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Extra acima de 10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Atual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&lt;0,1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R$ 0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Brutos comprimidos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~2,8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 no início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R$ 0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Brutos WAV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~14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~R$ 7/mês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4702A1-04FA-4711-B5F6-548EB5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23360"/>
            <a:ext cx="7150608" cy="969264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F2FCC-426D-4E6B-BD47-170F8A4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24281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661D8-8086-4983-81B8-42E08D5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462272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10 GB atendem com folga se os arquivos brutos de áudio não forem gravados no Postgres. Caso áudio WAV entre no banco, o limite pode ser ultrapassado rapidamente.</a:t>
            </a:r>
          </a:p>
        </p:txBody>
      </p:sp>
    </p:spTree>
    <p:extLst>
      <p:ext uri="{BB962C8B-B14F-4D97-AF65-F5344CB8AC3E}">
        <p14:creationId xmlns:p14="http://schemas.microsoft.com/office/powerpoint/2010/main" val="82859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86431C7-96CA-418F-BCC9-039AA4A4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Orçamento mensal consolidado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295B9E-A2EE-4A37-9AD2-8E3BFBE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Valores em reais, arredondados para decisão e acompanhamento mensal, com provisão para IOF, impostos e spread.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ADD1A1-B088-4D62-8337-8F5FFB6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CBBC66F-4C8A-4B18-9599-4177BDC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D92643-276C-4A13-AF97-3CCBDDF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812436C-FDF3-4C8B-B746-571D299A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29ECCD-0987-48FF-BFB9-3027582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7429FB-93A8-41DC-AF01-956D698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Atual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91752F-85FE-4767-9683-B22E2EF8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~R$ 45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C1DE2BF-E5E0-46A8-BB9E-F0B7AE8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95D43E-E4F7-40E6-BAE1-16EBCBC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C23E97F-2387-4A90-8FDA-AAB45991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6D82CC-DC0B-4F38-A636-81F6200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~R$ 0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2917C7-6D4C-4C1A-95F4-9EE8FEF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storage extra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2935A71-4C50-4BD8-AFAA-82DBD44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&lt; 10 GB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C24EA07-ED2D-4CB4-B57A-B366D7B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uso atual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CAD7A19-8718-4B14-9DDA-A6EFB50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537A822-FB12-4F7C-B169-3D7607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E718BA2-A9C3-4C0F-8DE8-16FDB20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Base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79831D-CAE4-4CDF-B5C5-D3FB03B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R$ 80-160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16D81F-243F-4D67-B5D5-DCB0BDA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4094DFE-4910-4176-BF8E-9C66140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FFC268E-9C39-4E3E-8E29-31472F0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819ABB4-1C8A-468F-8EF7-439BF69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Launch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F0483CE-2CA0-4A1E-9490-5D75C39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recomendado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E143C5E-1EF8-429E-ABA9-B95F289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100 GB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B5F5D87-73EA-41D1-81D7-79180AA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egress incluído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4E39AB6-DC78-4460-94AC-93CC42A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FCF2179-522F-43EC-ABD4-B7712ED2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2700">
            <a:solidFill>
              <a:srgbClr val="10101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B072918-A363-4F7E-B033-0FA4A06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Pesado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F3F7F71-97D0-46BF-97F6-987934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R$ 270-430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D671CE9-9DE6-4100-8C6A-5919C24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CD55DB2-1E03-4E75-8143-61A582C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D3083AF-8A15-4640-96CB-9FCDDE3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155FEFC8-BE33-4161-81D1-40DB14E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dashboards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1D39B49-5B7D-4CBF-862A-732D422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 exports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FA01EE6-D240-417C-8012-EF7F94E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&gt;100 GB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4ED6AD8-CBE2-4D73-8A27-3CFB17C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monitorar egress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AEC8CEEA-FDE1-4E29-A9C4-7BAFECC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9144000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98AFF9A-B60A-4503-91D1-755E73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709160"/>
            <a:ext cx="8732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Para aprovação inicial, eu trabalharia com R$ 80 a R$ 160 por mês já considerando provisão para IOF, impostos e spread. Se dashboards (dash), exports ou consultas completas forem muito usados, reservar até R$ 430 por mês.</a:t>
            </a:r>
          </a:p>
        </p:txBody>
      </p:sp>
    </p:spTree>
    <p:extLst>
      <p:ext uri="{BB962C8B-B14F-4D97-AF65-F5344CB8AC3E}">
        <p14:creationId xmlns:p14="http://schemas.microsoft.com/office/powerpoint/2010/main" val="14089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5F82DD-1950-4D29-BBDD-BDF6B96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Ressalvas importantes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23E8B5-17EB-4C2B-A1EA-966BC86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Pontos que devem acompanhar a aprovação do orçamento.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76DAD9-C737-420E-97F4-EBDF078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DA0D9B-FDD7-4502-8F82-47B8DF1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1F3A06-D620-409C-892B-6FABACD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B76CD8-54EA-40D1-927B-5E93AD9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6812280" cy="3529584"/>
          </a:xfrm>
          <a:prstGeom xmlns:a="http://schemas.openxmlformats.org/drawingml/2006/main" prst="roundRect">
            <a:avLst>
              <a:gd name="adj" fmla="val 3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030129-C46B-4ECF-BB4F-71E45085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09344"/>
            <a:ext cx="63093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 A estimativa usa o projeto atual auditoria-nstech-2. O projeto antigo auditoria-nstech serviu apenas como referência de risco de cota.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2. Os 10 GB atendem no desenho correto: arquivos brutos de áudio fora do Postgres, armazenados em GCS/Huawei OBS ou repositório equivalente.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3. Dashboards, exports e consultas completas podem elevar a transferência pública. Esse é o principal ponto de monitoramento.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4. A conversão usa US$ 1 = cerca de R$ 5,00 e aplica uma provisão de 6% a 8% para IOF, impostos, spread bancário e variação cambial.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8D119A0-9EDC-4ACC-92C4-E0F9EDD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3063240" cy="1444752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2700">
            <a:solidFill>
              <a:srgbClr val="B9C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C52A84-3723-46BA-83CA-21A7F0B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691640"/>
            <a:ext cx="26517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3E6DF2"/>
                </a:solidFill>
                <a:latin typeface="Bahnschrift"/>
                <a:ea typeface="Bahnschrift"/>
                <a:cs typeface="Bahnschrift"/>
              </a:rPr>
              <a:t>Nota rápida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E927D1-A761-4C4A-B5D4-B073CCF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01952"/>
            <a:ext cx="2651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Armazenamento Neon</a:t>
            </a:r>
          </a:p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~R$ 1,75 / GB-mês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1AC4BC-50FF-480F-B951-DA37352A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542032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Storage extra tende a pesar pouco. O custo costuma subir mais por egress, dash e compute ativo.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5EC06D1-3B8E-438F-8F70-F135401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82112"/>
            <a:ext cx="3063240" cy="1700784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12700">
            <a:solidFill>
              <a:srgbClr val="FFC9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8542E1-D104-424D-89F2-2D5F875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438144"/>
            <a:ext cx="2633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Recomendação executiva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7A7797C-8289-4034-9E0A-734E686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840480"/>
            <a:ext cx="2633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Começar com Launch, manter arquivos brutos de áudio fora do banco e criar alertas de transferência em 60 GB e 85 GB por mês.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CF5CD96-E530-4FB8-971B-8005B8B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76672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F902E7-2704-4BAB-8CC0-A6F006E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2976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Resumo final: para o volume informado, 10 GB atendem. A faixa inicial recomendada é R$ 80 a R$ 160/mês, com teto de segurança de R$ 430/mês em uso intenso de dash e exports.</a:t>
            </a:r>
          </a:p>
        </p:txBody>
      </p:sp>
    </p:spTree>
    <p:extLst>
      <p:ext uri="{BB962C8B-B14F-4D97-AF65-F5344CB8AC3E}">
        <p14:creationId xmlns:p14="http://schemas.microsoft.com/office/powerpoint/2010/main" val="40903432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2026-05-14T19:02:25.5090000Z</dcterms:created>
  <dcterms:modified xsi:type="dcterms:W3CDTF">2026-05-14T19:02:25.5090000Z</dcterms:modified>
</coreProperties>
</file>