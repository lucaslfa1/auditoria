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8a21ac53de4de2" /><Relationship Type="http://schemas.openxmlformats.org/officeDocument/2006/relationships/extended-properties" Target="/docProps/app.xml" Id="Re170217407224987" /><Relationship Type="http://schemas.openxmlformats.org/officeDocument/2006/relationships/officeDocument" Target="/ppt/presentation.xml" Id="R36cbcb2fbb6e43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11b081f6074bd1"/>
  </p:sldMasterIdLst>
  <p:notesMasterIdLst>
    <p:notesMasterId xmlns:r="http://schemas.openxmlformats.org/officeDocument/2006/relationships" r:id="R99dd2dcacded4d71"/>
  </p:notesMasterIdLst>
  <p:sldIdLst>
    <p:sldId xmlns:r="http://schemas.openxmlformats.org/officeDocument/2006/relationships" id="256" r:id="R727444e1d597471f"/>
    <p:sldId xmlns:r="http://schemas.openxmlformats.org/officeDocument/2006/relationships" id="257" r:id="R3c819a033ba04aa7"/>
    <p:sldId xmlns:r="http://schemas.openxmlformats.org/officeDocument/2006/relationships" id="258" r:id="Rd7df8b2fa44149d6"/>
    <p:sldId xmlns:r="http://schemas.openxmlformats.org/officeDocument/2006/relationships" id="259" r:id="Rff2983cfee4149cd"/>
    <p:sldId xmlns:r="http://schemas.openxmlformats.org/officeDocument/2006/relationships" id="260" r:id="R4bb6512c12184e0d"/>
    <p:sldId xmlns:r="http://schemas.openxmlformats.org/officeDocument/2006/relationships" id="261" r:id="R9eb5427b72384bcd"/>
    <p:sldId xmlns:r="http://schemas.openxmlformats.org/officeDocument/2006/relationships" id="262" r:id="R3d1cbb57231c40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1b081f6074bd1" /><Relationship Type="http://schemas.openxmlformats.org/officeDocument/2006/relationships/theme" Target="/ppt/theme/theme1.xml" Id="R7b04029223a44324" /><Relationship Type="http://schemas.openxmlformats.org/officeDocument/2006/relationships/notesMaster" Target="/ppt/notesMasters/notesMaster1.xml" Id="R99dd2dcacded4d71" /><Relationship Type="http://schemas.openxmlformats.org/officeDocument/2006/relationships/presProps" Target="/ppt/presProps.xml" Id="R329cffccedb342da" /><Relationship Type="http://schemas.openxmlformats.org/officeDocument/2006/relationships/viewProps" Target="/ppt/viewProps.xml" Id="R52a65f10b5b64581" /><Relationship Type="http://schemas.openxmlformats.org/officeDocument/2006/relationships/tableStyles" Target="/ppt/tableStyles.xml" Id="R58493cc0b6804f5e" /><Relationship Type="http://schemas.openxmlformats.org/officeDocument/2006/relationships/slide" Target="/ppt/slides/slide1.xml" Id="R727444e1d597471f" /><Relationship Type="http://schemas.openxmlformats.org/officeDocument/2006/relationships/slide" Target="/ppt/slides/slide2.xml" Id="R3c819a033ba04aa7" /><Relationship Type="http://schemas.openxmlformats.org/officeDocument/2006/relationships/slide" Target="/ppt/slides/slide3.xml" Id="Rd7df8b2fa44149d6" /><Relationship Type="http://schemas.openxmlformats.org/officeDocument/2006/relationships/slide" Target="/ppt/slides/slide4.xml" Id="Rff2983cfee4149cd" /><Relationship Type="http://schemas.openxmlformats.org/officeDocument/2006/relationships/slide" Target="/ppt/slides/slide5.xml" Id="R4bb6512c12184e0d" /><Relationship Type="http://schemas.openxmlformats.org/officeDocument/2006/relationships/slide" Target="/ppt/slides/slide6.xml" Id="R9eb5427b72384bcd" /><Relationship Type="http://schemas.openxmlformats.org/officeDocument/2006/relationships/slide" Target="/ppt/slides/slide7.xml" Id="R3d1cbb57231c40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ec5c73f994344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cfc222e7894e07" /><Relationship Type="http://schemas.openxmlformats.org/officeDocument/2006/relationships/notesMaster" Target="/ppt/notesMasters/notesMaster1.xml" Id="R61f45d843adc40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b72d86615d4207" /><Relationship Type="http://schemas.openxmlformats.org/officeDocument/2006/relationships/notesMaster" Target="/ppt/notesMasters/notesMaster1.xml" Id="R292db1b4a01c47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90d91831484dac" /><Relationship Type="http://schemas.openxmlformats.org/officeDocument/2006/relationships/notesMaster" Target="/ppt/notesMasters/notesMaster1.xml" Id="R8811d61c04ac42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971a322f1943c4" /><Relationship Type="http://schemas.openxmlformats.org/officeDocument/2006/relationships/notesMaster" Target="/ppt/notesMasters/notesMaster1.xml" Id="Rdaca46a095c34b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2cd712e9e14e8e" /><Relationship Type="http://schemas.openxmlformats.org/officeDocument/2006/relationships/notesMaster" Target="/ppt/notesMasters/notesMaster1.xml" Id="R6b347915552644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9cea37e3ee4688" /><Relationship Type="http://schemas.openxmlformats.org/officeDocument/2006/relationships/notesMaster" Target="/ppt/notesMasters/notesMaster1.xml" Id="Rebb060d350a940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328a8f109044ef" /><Relationship Type="http://schemas.openxmlformats.org/officeDocument/2006/relationships/notesMaster" Target="/ppt/notesMasters/notesMaster1.xml" Id="R9c4fbf9506514d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Premissas: 1.484 ligações/mês, média de 5 minutos, ~124 horas/mês. Áudios armazenados no banco: ~14 GB/mês. Total normal usa base de R$ 160/mês + storage adicional. Total médio usa base de R$ 430/mês + storage adicional. Valores arredondados com câmbio de R$ 5,00 e provisão para IOF, impostos e spread.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8ef5d14cf4db6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676e680835f459d" /><Relationship Type="http://schemas.openxmlformats.org/officeDocument/2006/relationships/slideLayout" Target="/ppt/slideLayouts/slideLayout2.xml" Id="R627d8b0ac8254ef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7d8b0ac8254efe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8c230963704455" /><Relationship Type="http://schemas.openxmlformats.org/officeDocument/2006/relationships/notesSlide" Target="/ppt/notesSlides/notesSlide1.xml" Id="R9cc5ac187ba74d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bdc9523254466f" /><Relationship Type="http://schemas.openxmlformats.org/officeDocument/2006/relationships/notesSlide" Target="/ppt/notesSlides/notesSlide2.xml" Id="R615e0afdcf3048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c6fa7b27e7444a" /><Relationship Type="http://schemas.openxmlformats.org/officeDocument/2006/relationships/notesSlide" Target="/ppt/notesSlides/notesSlide3.xml" Id="R8cb860cd6ad846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b50a8e14894edf" /><Relationship Type="http://schemas.openxmlformats.org/officeDocument/2006/relationships/notesSlide" Target="/ppt/notesSlides/notesSlide4.xml" Id="R919649431b6542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381e95c2b84431" /><Relationship Type="http://schemas.openxmlformats.org/officeDocument/2006/relationships/notesSlide" Target="/ppt/notesSlides/notesSlide5.xml" Id="Rf28b7be74f354c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ba2582f6764cd2" /><Relationship Type="http://schemas.openxmlformats.org/officeDocument/2006/relationships/notesSlide" Target="/ppt/notesSlides/notesSlide6.xml" Id="Rd9ce0551a40342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f3d6dedeff42fd" /><Relationship Type="http://schemas.openxmlformats.org/officeDocument/2006/relationships/notesSlide" Target="/ppt/notesSlides/notesSlide7.xml" Id="R048404f3e52449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3C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8DFC0D5-71A8-4911-B63D-74606C6D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23160"/>
            <a:ext cx="48006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Custo Neon</a:t>
            </a:r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Banco + Áudios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B9C9002-C531-43F8-BC59-E76096AE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913632"/>
            <a:ext cx="5120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Estimativa mensal considerando que os áudios serão armazenados, mas fora do banco Neon/Postgres.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138646F-C179-4E33-A7C5-5041CA12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41164"/>
            <a:ext cx="1572768" cy="658368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2A6AFC9-944A-4478-BE21-03F59343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85089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212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8E8C2FC-A2FA-409D-B827-33FB387C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106924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operadores</a:t>
            </a:r>
          </a:p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auditáveis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9289267-29D1-42EE-BA63-A8B24648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896" y="4741164"/>
            <a:ext cx="1572768" cy="658368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61BB77E-083C-4587-BA44-7BAF8E08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5089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7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E9A74A6-0D9C-433D-8871-D165863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5106924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ligações/op./mês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F85F32E-6395-477C-AD78-F795C679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4741164"/>
            <a:ext cx="1737360" cy="658368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3E9CB40-9098-4D04-A0E9-379BCED1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850892"/>
            <a:ext cx="14447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1.484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692796A-233A-4D92-9135-C4CE54DD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5106924"/>
            <a:ext cx="151790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ligações/mês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FBF396D-8891-4CFC-8729-7FA0612C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6382512"/>
            <a:ext cx="4434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Áudio armazenado exige controlar tamanho, retenção, auditoria e rastreabilidade do arquivo.</a:t>
            </a:r>
          </a:p>
        </p:txBody>
      </p:sp>
    </p:spTree>
    <p:extLst>
      <p:ext uri="{BB962C8B-B14F-4D97-AF65-F5344CB8AC3E}">
        <p14:creationId xmlns:p14="http://schemas.microsoft.com/office/powerpoint/2010/main" val="1399819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FC454B5-02D5-4CDC-AFE3-47560741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 que é áudio armazenado?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3DB6DE3-FA80-481E-8851-9F2DCF6E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Áudio armazenado é o arquivo da ligação mantido para replay, evidência e reprocessamento.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C893FDF-1ECA-4241-B084-5081D6C3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924D19F-89F7-483B-BC19-ED744DF8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4F10077-54F4-4245-90C0-AEB1AD9A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E9BD802-16EB-4ABC-9055-04DBD910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2743200" cy="1828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3B5ED11-333D-45FF-8DB1-5E83B125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99032"/>
            <a:ext cx="1243584" cy="429768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3C02"/>
          </a:solidFill>
          <a:ln xmlns:a="http://schemas.openxmlformats.org/drawingml/2006/main" w="12700">
            <a:solidFill>
              <a:srgbClr val="FF3C0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84FF9E7-AC33-4030-AC31-CEE3A74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581912"/>
            <a:ext cx="106070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Dentro da Neon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96D9CE-D421-4659-80AF-87A20586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56816"/>
            <a:ext cx="226771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Metadados da chamada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Transcrição consultável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Classificação e motivo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Resultado da auditoria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Link, hash e status do áudio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38FCCCA-4267-44D1-9963-32EEFA4B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19856"/>
            <a:ext cx="2743200" cy="179222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3BF3A4D-C8D8-450D-9C5E-D6E3726E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1188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333D"/>
          </a:solidFill>
          <a:ln xmlns:a="http://schemas.openxmlformats.org/drawingml/2006/main" w="12700">
            <a:solidFill>
              <a:srgbClr val="2E333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07A2F4-500A-41A0-8422-B9CBF0D6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75888"/>
            <a:ext cx="12435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Fora da Neon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8EF6F94-BD03-470E-A37F-107ACBEB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959352"/>
            <a:ext cx="228600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Áudio armazenado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Huawei OBS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Backups e retenção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Reprocessamento futuro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Evidência para replay</a:t>
            </a:r>
          </a:p>
        </p:txBody>
      </p:sp>
      <p:graphicFrame>
        <p:nvGraphicFramePr>
          <p:cNvPr id="23" name="Table 0"/>
          <p:cNvGraphicFramePr/>
          <p:nvPr/>
        </p:nvGraphicFramePr>
        <p:xfrm>
          <a:off xmlns:a="http://schemas.openxmlformats.org/drawingml/2006/main" x="3767328" y="1325880"/>
          <a:ext xmlns:a="http://schemas.openxmlformats.org/drawingml/2006/main" cx="7406640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8840"/>
                <a:gridCol w="52578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Tipo de informação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Onde guardar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Áudio original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Huawei OBS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Transcrição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Classificação e motivo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Resultado da auditoria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Caminho do áudio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Hash/checksum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Retenção e backup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Storage externo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IOF, impostos e spread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Provisão no orçamento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D3C42FF-3AAE-4446-80E1-6D5AD5F6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5029200"/>
            <a:ext cx="7315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5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Resumo: o sistema não precisa colocar o áudio dentro da Neon, mas precisa guardar a referência do arquivo para auditoria, replay e reprocessamento.</a:t>
            </a:r>
          </a:p>
        </p:txBody>
      </p:sp>
    </p:spTree>
    <p:extLst>
      <p:ext uri="{BB962C8B-B14F-4D97-AF65-F5344CB8AC3E}">
        <p14:creationId xmlns:p14="http://schemas.microsoft.com/office/powerpoint/2010/main" val="2144003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DEC2CFB-207C-43C3-8F82-4CD7553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Estado atual do Neon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9BCFEBD-085C-4644-8EE9-046335CE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O projeto atual ainda está pequeno porque o banco guarda principalmente dados estruturados.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F538808-5C6A-42FD-90BD-93932A0C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FBFE75-C018-4D35-82E5-930FB58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AD6CAC-04EA-406D-A8D7-AF847DB5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658368" y="1353312"/>
          <a:ext xmlns:a="http://schemas.openxmlformats.org/drawingml/2006/main" cx="6492240" cy="21031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920"/>
                <a:gridCol w="3246120"/>
                <a:gridCol w="16002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Métrica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Valor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Leitura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Banco de produção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22 MB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Muito abaixo de 10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Projeto com branches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91 MB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Ainda muito baixo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Transferência atual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~0,3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Baixa no projeto novo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Cota atual Free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/>
                        <a:t>~5,</a:t>
                      </a:r>
                      <a:r>
                        <a:rPr/>
                        <a:t>0</a:t>
                      </a:r>
                      <a:r>
                        <a:rPr/>
                        <a:t>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Alerta</a:t>
                      </a: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 de </a:t>
                      </a: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cota</a:t>
                      </a: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/Free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1E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E9E154C-B3EE-4A1D-BEBE-9179CC46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1490472"/>
            <a:ext cx="3310128" cy="960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3C0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6096DC3-14BF-4A85-BE13-B53D0EA0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1719072"/>
            <a:ext cx="2761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22 MB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0C01F0F-8CD8-4F50-A118-6A10D24E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011680"/>
            <a:ext cx="29077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tamanho atual do banco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8D67F77-CD95-4594-AD15-1D49F6E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715768"/>
            <a:ext cx="1572768" cy="89611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D1B220A-061D-45C6-9C66-52082E1B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944368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91 MB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66E43F0-8846-400F-9C12-28CE6BAD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218688"/>
            <a:ext cx="142646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projeto somando branches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E3EEB26-4A54-49A2-B04B-F6661AA9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715768"/>
            <a:ext cx="1572768" cy="89611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61EBFBF-A602-48F2-BAC1-731282B4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2944368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0,3 GB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30F46DA-91B0-4604-A6C3-7CC6D51E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18688"/>
            <a:ext cx="142646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transferência no projeto novo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44542EE-1E9B-455F-A56C-AF804B7E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3877056"/>
            <a:ext cx="3310128" cy="149047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12700">
            <a:solidFill>
              <a:srgbClr val="FFD0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FA3F2BD-604F-451E-95B4-A3F284C6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078224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Leitura prática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E4BF475-6CEA-4D43-9870-DDD44574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4315968"/>
            <a:ext cx="2743200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 Neon está muito abaixo de 10 GB. O aumento de consumo aparece se os áudios originais forem gravados no Neon ou se dashboards puxarem transcrições completas com muita frequência.</a:t>
            </a:r>
          </a:p>
        </p:txBody>
      </p:sp>
    </p:spTree>
    <p:extLst>
      <p:ext uri="{BB962C8B-B14F-4D97-AF65-F5344CB8AC3E}">
        <p14:creationId xmlns:p14="http://schemas.microsoft.com/office/powerpoint/2010/main" val="11905955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DA1733-06AC-4155-AD67-B412DF78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Áudios armazenados: onde manter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86B4477-C118-4F3C-AD48-A37FB360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59536"/>
            <a:ext cx="8229600" cy="240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Total que o plano de assinatura cobre com 10 GB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97B74B-2137-4280-BDD5-805E8C80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2E75928-3C62-4AE4-80C3-D2850C79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44D80B5-1E48-4ECC-9319-6D5C52C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922D18-DF35-4D39-8D76-6D86AB1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3090672" cy="1234440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DEFE9"/>
          </a:solidFill>
          <a:ln xmlns:a="http://schemas.openxmlformats.org/drawingml/2006/main" w="12700">
            <a:solidFill>
              <a:srgbClr val="F7B9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F00CE75-C76B-4E9E-A190-82CB0FD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08760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Arquitetura sem guardar áudio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3544FDC-737D-4A17-8100-27DBDD48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56232"/>
            <a:ext cx="241401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 armazenado fora da Neon</a:t>
            </a:r>
          </a:p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em Huawei OBS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882D255-9E66-49E6-B582-362B3C81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16352"/>
            <a:ext cx="3090672" cy="1298448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B77FC90-EF32-4227-B187-95CACAC7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26664"/>
            <a:ext cx="241401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Banco guarda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34B61F-E87B-47D3-9BCB-9E2AE6B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264408"/>
            <a:ext cx="248716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Metadados, transcrição,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classificação e link do áudio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4F3DB0F-3554-4DF3-BD95-D3AC6EC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85032"/>
            <a:ext cx="24231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graphicFrame>
        <p:nvGraphicFramePr>
          <p:cNvPr id="22" name="Table 0"/>
          <p:cNvGraphicFramePr/>
          <p:nvPr/>
        </p:nvGraphicFramePr>
        <p:xfrm>
          <a:off xmlns:a="http://schemas.openxmlformats.org/drawingml/2006/main" x="4041648" y="1426464"/>
          <a:ext xmlns:a="http://schemas.openxmlformats.org/drawingml/2006/main" cx="7150608" cy="21076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88720"/>
                <a:gridCol w="2194560"/>
                <a:gridCol w="1737360"/>
                <a:gridCol w="2029968"/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Cenário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Crescimento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10 GB?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Leitura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Áudio fora do banco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&lt;0,1 GB/mês na Neon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Sim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Desenho recomendado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Áudio comprimido no banco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~2,8 GB/mês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Sim no início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Não recomendado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Áudio WAV no banco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~14 GB/mês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Estoura rápido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D94702A1-04FA-4711-B5F6-548EB56E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023360"/>
            <a:ext cx="7150608" cy="969264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2CF2FCC-426D-4E6B-BD47-170F8A4A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4242816"/>
            <a:ext cx="9144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Conclusão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6F661D8-8086-4983-81B8-42E08D57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4462272"/>
            <a:ext cx="6492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Pode ser feito sem áudio armazenado dentro do banco. Não é recomendado operar sem guardar o áudio em algum repositório, pois isso reduz replay, evidência e reprocessamento.</a:t>
            </a:r>
          </a:p>
        </p:txBody>
      </p:sp>
    </p:spTree>
    <p:extLst>
      <p:ext uri="{BB962C8B-B14F-4D97-AF65-F5344CB8AC3E}">
        <p14:creationId xmlns:p14="http://schemas.microsoft.com/office/powerpoint/2010/main" val="828592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86431C7-96CA-418F-BCC9-039AA4A4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Impacto no orçamento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7295B9E-A2EE-4A37-9AD2-8E3BFBEF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Valores em reais para Neon com arquivos de áudios separados em armazenamento externo.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ADD1A1-B088-4D62-8337-8F5FFB64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CBBC66F-4C8A-4B18-9599-4177BDC0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9D92643-276C-4A13-AF97-3CCBDDFC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812436C-FDF3-4C8B-B746-571D299A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272491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D29ECCD-0987-48FF-BFB9-30275826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27249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333D"/>
          </a:solidFill>
          <a:ln xmlns:a="http://schemas.openxmlformats.org/drawingml/2006/main" w="12700">
            <a:solidFill>
              <a:srgbClr val="2E333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37429FB-93A8-41DC-AF01-956D6988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19656"/>
            <a:ext cx="23591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Neon atual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D91752F-85FE-4767-9683-B22E2EF8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340864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~R$ 45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C1DE2BF-E5E0-46A8-BB9E-F0B7AE8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633472"/>
            <a:ext cx="23225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por mês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E95D43E-E4F7-40E6-BAE1-16EBCBC0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C23E97F-2387-4A90-8FDA-AAB45991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36D82CC-DC0B-4F38-A636-81F62002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~R$ 0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32917C7-6D4C-4C1A-95F4-9EE8FEF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storage extra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2935A71-4C50-4BD8-AFAA-82DBD440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&lt; 10 GB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C24EA07-ED2D-4CB4-B57A-B366D7B3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uso atual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CAD7A19-8718-4B14-9DDA-A6EFB505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19072"/>
            <a:ext cx="272491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537A822-FB12-4F7C-B169-3D760713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19072"/>
            <a:ext cx="27249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3C02"/>
          </a:solidFill>
          <a:ln xmlns:a="http://schemas.openxmlformats.org/drawingml/2006/main" w="12700">
            <a:solidFill>
              <a:srgbClr val="FF3C0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E718BA2-A9C3-4C0F-8DE8-16FDB201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1819656"/>
            <a:ext cx="23591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Neon base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779831D-CAE4-4CDF-B5C5-D3FB03B9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2340864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R$ 80-160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D16D81F-243F-4D67-B5D5-DCB0BDAD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633472"/>
            <a:ext cx="23225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por mês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4094DFE-4910-4176-BF8E-9C66140B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FFC268E-9C39-4E3E-8E29-31472F0E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819ABB4-1C8A-468F-8EF7-439BF69E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Launch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F0483CE-2CA0-4A1E-9490-5D75C39F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recomendado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E143C5E-1EF8-429E-ABA9-B95F289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100 GB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B5F5D87-73EA-41D1-81D7-79180AA7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egress incluído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4E39AB6-DC78-4460-94AC-93CC42A4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719072"/>
            <a:ext cx="272491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2FCF2179-522F-43EC-ABD4-B7712ED2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719072"/>
            <a:ext cx="27249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2700">
            <a:solidFill>
              <a:srgbClr val="10101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DB072918-A363-4F7E-B033-0FA4A06E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6" y="1819656"/>
            <a:ext cx="23591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Uso pesado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F3F7F71-97D0-46BF-97F6-987934C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340864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R$ 270-430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D671CE9-9DE6-4100-8C6A-5919C243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633472"/>
            <a:ext cx="23225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por mês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8CD55DB2-1E03-4E75-8143-61A582C2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D3083AF-8A15-4640-96CB-9FCDDE34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155FEFC8-BE33-4161-81D1-40DB14EE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dashboards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41D39B49-5B7D-4CBF-862A-732D4224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 exports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7FA01EE6-D240-417C-8012-EF7F94EC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&gt;100 GB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B4ED6AD8-CBE2-4D73-8A27-3CFB17C7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monitorar egress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AEC8CEEA-FDE1-4E29-A9C4-7BAFECC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34840"/>
            <a:ext cx="9144000" cy="89611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E333D"/>
          </a:solidFill>
          <a:ln xmlns:a="http://schemas.openxmlformats.org/drawingml/2006/main" w="12700">
            <a:solidFill>
              <a:srgbClr val="2E3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898AFF9A-B60A-4503-91D1-755E730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709160"/>
            <a:ext cx="8732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 custo acima é do banco Neon. O storage dos áudios em Huawei OBS deve ser orçado à parte,</a:t>
            </a:r>
          </a:p>
        </p:txBody>
      </p:sp>
    </p:spTree>
    <p:extLst>
      <p:ext uri="{BB962C8B-B14F-4D97-AF65-F5344CB8AC3E}">
        <p14:creationId xmlns:p14="http://schemas.microsoft.com/office/powerpoint/2010/main" val="14089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A5F82DD-1950-4D29-BBDD-BDF6B96E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Recomendação final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123E8B5-17EB-4C2B-A1EA-966BC860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Como armazenar áudios sem transformar a Neon em repositório de arquivos.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376DAD9-C737-420E-97F4-EBDF078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6DA0D9B-FDD7-4502-8F82-47B8DF1B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D1F3A06-D620-409C-892B-6FABACDC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6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4B76CD8-54EA-40D1-927B-5E93AD90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6812280" cy="3529584"/>
          </a:xfrm>
          <a:prstGeom xmlns:a="http://schemas.openxmlformats.org/drawingml/2006/main" prst="roundRect">
            <a:avLst>
              <a:gd name="adj" fmla="val 3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8030129-C46B-4ECF-BB4F-71E45085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09344"/>
            <a:ext cx="63093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1. Guardar o áudio em Huawei OBS, com política de retenção e acesso controlado.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2. Guardar na Neon somente metadados, transcrição, classificação, motivo, auditoria, status, hash e caminho do arquivo.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3. Usar o link do áudio para replay, reprocessamento e evidência, sem carregar o arquivo inteiro em consultas comuns.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4. Considerar IOF, impostos, spread e variação cambial no orçamento, porque Neon e storage externo podem cobrar em dólar.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8D119A0-9EDC-4ACC-92C4-E0F9EDDD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481328"/>
            <a:ext cx="3063240" cy="1444752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12700">
            <a:solidFill>
              <a:srgbClr val="B9C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5C52A84-3723-46BA-83CA-21A7F0B0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691640"/>
            <a:ext cx="26517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3E6DF2"/>
                </a:solidFill>
                <a:latin typeface="Bahnschrift"/>
                <a:ea typeface="Bahnschrift"/>
                <a:cs typeface="Bahnschrift"/>
              </a:rPr>
              <a:t>Nota rápida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0E927D1-A761-4C4A-B5D4-B073CCF4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901952"/>
            <a:ext cx="2651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 armazenado</a:t>
            </a:r>
          </a:p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fora do Postgres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E1AC4BC-50FF-480F-B951-DA37352A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542032"/>
            <a:ext cx="2578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Esse desenho preserva a evidência da chamada e evita crescimento desnecessário no banco.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5EC06D1-3B8E-438F-8F70-F1354014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182112"/>
            <a:ext cx="3063240" cy="1700784"/>
          </a:xfrm>
          <a:prstGeom xmlns:a="http://schemas.openxmlformats.org/drawingml/2006/main" prst="roundRect">
            <a:avLst>
              <a:gd name="adj" fmla="val 7527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12700">
            <a:solidFill>
              <a:srgbClr val="FFC9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8542E1-D104-424D-89F2-2D5F875F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438144"/>
            <a:ext cx="26334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4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Decisão prática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7A7797C-8289-4034-9E0A-734E686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840480"/>
            <a:ext cx="2633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Sim, o sistema pode operar sem áudio dentro da Neon. O que não recomendo é deixar de armazenar os áudios em um repositório externo. Verificar se o OBS da Hauwei permite esse armazenamento e quanto tempo.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CF5CD96-E530-4FB8-971B-8005B8BE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76672"/>
            <a:ext cx="10149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3C0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9F902E7-2704-4BAB-8CC0-A6F006E2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2976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Resumo final: o banco Neon continua abaixo de 10 GB se os áudios ficarem em Huawei OBS. A Neon deve ser usada para consulta, auditoria e rastreabilidade; o storage externo fica responsável pelos arquivos de áudio.</a:t>
            </a:r>
          </a:p>
        </p:txBody>
      </p:sp>
    </p:spTree>
    <p:extLst>
      <p:ext uri="{BB962C8B-B14F-4D97-AF65-F5344CB8AC3E}">
        <p14:creationId xmlns:p14="http://schemas.microsoft.com/office/powerpoint/2010/main" val="409034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DA1733-06AC-4155-AD67-B412DF78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Total com áudios armazenados na Neon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86B4477-C118-4F3C-AD48-A37FB360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59536"/>
            <a:ext cx="8229600" cy="240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Cenário solicitado: arquivos de áudio gravados dentro do banco Postgres/Neon.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97B74B-2137-4280-BDD5-805E8C80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2E75928-3C62-4AE4-80C3-D2850C79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44D80B5-1E48-4ECC-9319-6D5C52C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7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922D18-DF35-4D39-8D76-6D86AB1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3090672" cy="1234440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DEFE9"/>
          </a:solidFill>
          <a:ln xmlns:a="http://schemas.openxmlformats.org/drawingml/2006/main" w="12700">
            <a:solidFill>
              <a:srgbClr val="F7B9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F00CE75-C76B-4E9E-A190-82CB0FD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08760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Premissa usada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3544FDC-737D-4A17-8100-27DBDD48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56232"/>
            <a:ext cx="241401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Áudios no banco</a:t>
            </a:r>
          </a:p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~14 GB/mês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882D255-9E66-49E6-B582-362B3C81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16352"/>
            <a:ext cx="3090672" cy="1298448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B77FC90-EF32-4227-B187-95CACAC7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26664"/>
            <a:ext cx="241401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Banco guarda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34B61F-E87B-47D3-9BCB-9E2AE6B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264408"/>
            <a:ext cx="248716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áudio + transcrição</a:t>
            </a:r>
          </a:p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metadados e auditoria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4F3DB0F-3554-4DF3-BD95-D3AC6EC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85032"/>
            <a:ext cx="24231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graphicFrame>
        <p:nvGraphicFramePr>
          <p:cNvPr id="22" name="Table 0"/>
          <p:cNvGraphicFramePr/>
          <p:nvPr/>
        </p:nvGraphicFramePr>
        <p:xfrm>
          <a:off xmlns:a="http://schemas.openxmlformats.org/drawingml/2006/main" x="4041648" y="1426464"/>
          <a:ext xmlns:a="http://schemas.openxmlformats.org/drawingml/2006/main" cx="7150608" cy="21076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88720"/>
                <a:gridCol w="2194560"/>
                <a:gridCol w="1737360"/>
                <a:gridCol w="2029968"/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Áudios no banco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Total normal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Total médio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14 GB / +R$ 8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~R$ 170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~R$ 440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6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84 GB / +R$ 140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~R$ 300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~R$ 570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12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168 GB / +R$ 300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~R$ 460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~R$ 730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D94702A1-04FA-4711-B5F6-548EB56E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023360"/>
            <a:ext cx="7150608" cy="969264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2CF2FCC-426D-4E6B-BD47-170F8A4A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4242816"/>
            <a:ext cx="9144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Conclusão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6F661D8-8086-4983-81B8-42E08D57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4462272"/>
            <a:ext cx="6492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 total mensal considera serviço transacional normal ou médio somado ao storage dos áudios. Sem política de retenção, o custo cresce mês a mês.</a:t>
            </a:r>
          </a:p>
        </p:txBody>
      </p:sp>
    </p:spTree>
    <p:extLst>
      <p:ext uri="{BB962C8B-B14F-4D97-AF65-F5344CB8AC3E}">
        <p14:creationId xmlns:p14="http://schemas.microsoft.com/office/powerpoint/2010/main" val="828592656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2026-05-14T20:14:39.0970000Z</dcterms:created>
  <dcterms:modified xsi:type="dcterms:W3CDTF">2026-05-14T20:14:39.0970000Z</dcterms:modified>
</coreProperties>
</file>