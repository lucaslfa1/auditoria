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8fb03aeaec4d96" /><Relationship Type="http://schemas.openxmlformats.org/officeDocument/2006/relationships/extended-properties" Target="/docProps/app.xml" Id="R512598bd442e4300" /><Relationship Type="http://schemas.openxmlformats.org/officeDocument/2006/relationships/officeDocument" Target="/ppt/presentation.xml" Id="R89bf9a9ba48447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871f2043bc4923"/>
  </p:sldMasterIdLst>
  <p:notesMasterIdLst>
    <p:notesMasterId xmlns:r="http://schemas.openxmlformats.org/officeDocument/2006/relationships" r:id="Rbb763f9fded542bc"/>
  </p:notesMasterIdLst>
  <p:sldIdLst>
    <p:sldId xmlns:r="http://schemas.openxmlformats.org/officeDocument/2006/relationships" id="256" r:id="R078824ec2f554663"/>
    <p:sldId xmlns:r="http://schemas.openxmlformats.org/officeDocument/2006/relationships" id="257" r:id="R0b6de8e400a34579"/>
    <p:sldId xmlns:r="http://schemas.openxmlformats.org/officeDocument/2006/relationships" id="258" r:id="R0f5075d3496f4578"/>
    <p:sldId xmlns:r="http://schemas.openxmlformats.org/officeDocument/2006/relationships" id="259" r:id="R3eb644ce14264f8d"/>
    <p:sldId xmlns:r="http://schemas.openxmlformats.org/officeDocument/2006/relationships" id="260" r:id="R8d5a0980b4274bac"/>
    <p:sldId xmlns:r="http://schemas.openxmlformats.org/officeDocument/2006/relationships" id="261" r:id="R0f7975e4ea7c465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71f2043bc4923" /><Relationship Type="http://schemas.openxmlformats.org/officeDocument/2006/relationships/theme" Target="/ppt/theme/theme1.xml" Id="Rc01ce4bedf774981" /><Relationship Type="http://schemas.openxmlformats.org/officeDocument/2006/relationships/notesMaster" Target="/ppt/notesMasters/notesMaster1.xml" Id="Rbb763f9fded542bc" /><Relationship Type="http://schemas.openxmlformats.org/officeDocument/2006/relationships/presProps" Target="/ppt/presProps.xml" Id="R4af3cdf75de6440a" /><Relationship Type="http://schemas.openxmlformats.org/officeDocument/2006/relationships/viewProps" Target="/ppt/viewProps.xml" Id="R63c3b74d2f6a48d1" /><Relationship Type="http://schemas.openxmlformats.org/officeDocument/2006/relationships/tableStyles" Target="/ppt/tableStyles.xml" Id="Rd2b46ad826a14c49" /><Relationship Type="http://schemas.openxmlformats.org/officeDocument/2006/relationships/slide" Target="/ppt/slides/slide1.xml" Id="R078824ec2f554663" /><Relationship Type="http://schemas.openxmlformats.org/officeDocument/2006/relationships/slide" Target="/ppt/slides/slide2.xml" Id="R0b6de8e400a34579" /><Relationship Type="http://schemas.openxmlformats.org/officeDocument/2006/relationships/slide" Target="/ppt/slides/slide3.xml" Id="R0f5075d3496f4578" /><Relationship Type="http://schemas.openxmlformats.org/officeDocument/2006/relationships/slide" Target="/ppt/slides/slide4.xml" Id="R3eb644ce14264f8d" /><Relationship Type="http://schemas.openxmlformats.org/officeDocument/2006/relationships/slide" Target="/ppt/slides/slide5.xml" Id="R8d5a0980b4274bac" /><Relationship Type="http://schemas.openxmlformats.org/officeDocument/2006/relationships/slide" Target="/ppt/slides/slide6.xml" Id="R0f7975e4ea7c46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8297aacea3048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527b9db05d48f1" /><Relationship Type="http://schemas.openxmlformats.org/officeDocument/2006/relationships/notesMaster" Target="/ppt/notesMasters/notesMaster1.xml" Id="R7b09e4abe9f446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9ba3caf75c4c53" /><Relationship Type="http://schemas.openxmlformats.org/officeDocument/2006/relationships/notesMaster" Target="/ppt/notesMasters/notesMaster1.xml" Id="Racd6da7570ec47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e7eb0c332c4d1d" /><Relationship Type="http://schemas.openxmlformats.org/officeDocument/2006/relationships/notesMaster" Target="/ppt/notesMasters/notesMaster1.xml" Id="Rd3e61602639043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79e4ddf112498e" /><Relationship Type="http://schemas.openxmlformats.org/officeDocument/2006/relationships/notesMaster" Target="/ppt/notesMasters/notesMaster1.xml" Id="R969c5c613fff4e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542eaceee0492f" /><Relationship Type="http://schemas.openxmlformats.org/officeDocument/2006/relationships/notesMaster" Target="/ppt/notesMasters/notesMaster1.xml" Id="Rf6cb7a76e4c743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7ce616f7a84376" /><Relationship Type="http://schemas.openxmlformats.org/officeDocument/2006/relationships/notesMaster" Target="/ppt/notesMasters/notesMaster1.xml" Id="R44b1eb6efa7543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Word custo_banco_dados_neon_reais.docx. Áudios brutos devem ficar em GCS/Huawei OBS, com referência no banco.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a8b50ab744d79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8182e460d254b33" /><Relationship Type="http://schemas.openxmlformats.org/officeDocument/2006/relationships/slideLayout" Target="/ppt/slideLayouts/slideLayout2.xml" Id="R0f984b1a678243f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984b1a678243f8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2e76f8d7444dd2" /><Relationship Type="http://schemas.openxmlformats.org/officeDocument/2006/relationships/notesSlide" Target="/ppt/notesSlides/notesSlide1.xml" Id="Rcac9cf9d572e47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bb90bb24204c26" /><Relationship Type="http://schemas.openxmlformats.org/officeDocument/2006/relationships/notesSlide" Target="/ppt/notesSlides/notesSlide2.xml" Id="Re8ecc5d8256f4a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7edf38a91b4222" /><Relationship Type="http://schemas.openxmlformats.org/officeDocument/2006/relationships/notesSlide" Target="/ppt/notesSlides/notesSlide3.xml" Id="R42e59e9ef68b44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adff1210324769" /><Relationship Type="http://schemas.openxmlformats.org/officeDocument/2006/relationships/notesSlide" Target="/ppt/notesSlides/notesSlide4.xml" Id="R86865f9263884d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bfa258ed734f1c" /><Relationship Type="http://schemas.openxmlformats.org/officeDocument/2006/relationships/notesSlide" Target="/ppt/notesSlides/notesSlide5.xml" Id="R6d22decd40db49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b6dc0c86714f9a" /><Relationship Type="http://schemas.openxmlformats.org/officeDocument/2006/relationships/notesSlide" Target="/ppt/notesSlides/notesSlide6.xml" Id="Rb19fb178d28344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3C0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8DFC0D5-71A8-4911-B63D-74606C6D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423160"/>
            <a:ext cx="48006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Custo Neon</a:t>
            </a:r>
          </a:p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Banco + Áudios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B9C9002-C531-43F8-BC59-E76096AE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913632"/>
            <a:ext cx="5120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Estimativa mensal considerando que os áudios serão armazenados, mas fora do banco Neon/Postgres.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138646F-C179-4E33-A7C5-5041CA12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5504688"/>
            <a:ext cx="1572768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2A6AFC9-944A-4478-BE21-03F59343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5614416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212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8E8C2FC-A2FA-409D-B827-33FB387C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5870448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operadores</a:t>
            </a:r>
          </a:p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auditáveis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9289267-29D1-42EE-BA63-A8B24648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9208" y="5504688"/>
            <a:ext cx="1572768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61BB77E-083C-4587-BA44-7BAF8E08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614416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7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E9A74A6-0D9C-433D-8871-D165863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5870448"/>
            <a:ext cx="1353312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ligações/op./mês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F85F32E-6395-477C-AD78-F795C679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5504688"/>
            <a:ext cx="1737360" cy="658368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3E9CB40-9098-4D04-A0E9-379BCED1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614416"/>
            <a:ext cx="144475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1.484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692796A-233A-4D92-9135-C4CE54DD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5870448"/>
            <a:ext cx="1517904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8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ligações/mês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4AEE13C6-CA61-423E-8866-3819AB50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704" y="6236208"/>
            <a:ext cx="5102352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E6DF2"/>
          </a:solidFill>
          <a:ln xmlns:a="http://schemas.openxmlformats.org/drawingml/2006/main" w="12700">
            <a:solidFill>
              <a:srgbClr val="3E6D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723370F-C2E3-47BE-AFC9-61B00D63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296" y="6336792"/>
            <a:ext cx="473659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Áudio bruto em GCS/Huawei OBS | Banco Neon para dados estruturados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FBF396D-8891-4CFC-8729-7FA0612C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6382512"/>
            <a:ext cx="4434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63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Áudio original = dado bruto. Neon guarda metadados, transcrição, classificação e link seguro para localizar o arquivo.</a:t>
            </a:r>
          </a:p>
        </p:txBody>
      </p:sp>
    </p:spTree>
    <p:extLst>
      <p:ext uri="{BB962C8B-B14F-4D97-AF65-F5344CB8AC3E}">
        <p14:creationId xmlns:p14="http://schemas.microsoft.com/office/powerpoint/2010/main" val="1399819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FC454B5-02D5-4CDC-AFE3-4756074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O que é dado bruto?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3DB6DE3-FA80-481E-8851-9F2DCF6E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Dado bruto é o arquivo original da ligação, antes de transcrição, classificação ou auditoria.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C893FDF-1ECA-4241-B084-5081D6C3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924D19F-89F7-483B-BC19-ED744DF8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F10077-54F4-4245-90C0-AEB1AD9A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E9BD802-16EB-4ABC-9055-04DBD910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25880"/>
            <a:ext cx="2743200" cy="1828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3B5ED11-333D-45FF-8DB1-5E83B125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399032"/>
            <a:ext cx="1243584" cy="429768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3C02"/>
          </a:solidFill>
          <a:ln xmlns:a="http://schemas.openxmlformats.org/drawingml/2006/main" w="12700">
            <a:solidFill>
              <a:srgbClr val="FF3C0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84FF9E7-AC33-4030-AC31-CEE3A74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581912"/>
            <a:ext cx="106070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Dentro da Neon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096D9CE-D421-4659-80AF-87A20586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956816"/>
            <a:ext cx="226771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Metadados da chamada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Transcrição consultável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Classificação e motivo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Resultado da auditoria</a:t>
            </a:r>
          </a:p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Link, hash e status do áudio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38FCCCA-4267-44D1-9963-32EEFA4B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19856"/>
            <a:ext cx="2743200" cy="179222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3BF3A4D-C8D8-450D-9C5E-D6E3726E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611880"/>
            <a:ext cx="141732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07A2F4-500A-41A0-8422-B9CBF0D6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75888"/>
            <a:ext cx="12435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Fora da Neon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8EF6F94-BD03-470E-A37F-107ACBEB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959352"/>
            <a:ext cx="228600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Arquivo bruto de áudio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GCS/Huawei OBS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Backups e retenção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Reprocessamento futuro</a:t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• Evidência para replay</a:t>
            </a:r>
          </a:p>
        </p:txBody>
      </p:sp>
      <p:graphicFrame>
        <p:nvGraphicFramePr>
          <p:cNvPr id="23" name="Table 0"/>
          <p:cNvGraphicFramePr/>
          <p:nvPr/>
        </p:nvGraphicFramePr>
        <p:xfrm>
          <a:off xmlns:a="http://schemas.openxmlformats.org/drawingml/2006/main" x="3767328" y="1325880"/>
          <a:ext xmlns:a="http://schemas.openxmlformats.org/drawingml/2006/main" cx="7406640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8840"/>
                <a:gridCol w="5257800"/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Tipo de informação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Onde guardar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Áudio original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GCS/Huawei OBS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Transcrição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Classificação e motivo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Resultado da auditoria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Caminho do áudio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Hash/checksum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Neon/Postgres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Retenção e backup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Storage externo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IOF, impostos e spread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8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Provisão no orçamento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D3C42FF-3AAE-4446-80E1-6D5AD5F6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5029200"/>
            <a:ext cx="7315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5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Resumo: o sistema não precisa colocar o áudio dentro da Neon, mas precisa guardar a referência do arquivo para auditoria, replay e reprocessamento.</a:t>
            </a:r>
          </a:p>
        </p:txBody>
      </p:sp>
    </p:spTree>
    <p:extLst>
      <p:ext uri="{BB962C8B-B14F-4D97-AF65-F5344CB8AC3E}">
        <p14:creationId xmlns:p14="http://schemas.microsoft.com/office/powerpoint/2010/main" val="2144003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DEC2CFB-207C-43C3-8F82-4CD7553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Estado atual do Neon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9BCFEBD-085C-4644-8EE9-046335CE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O projeto atual ainda está pequeno porque o banco guarda principalmente dados estruturados.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F538808-5C6A-42FD-90BD-93932A0C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FBFE75-C018-4D35-82E5-930FB58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9AD6CAC-04EA-406D-A8D7-AF847DB5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graphicFrame>
        <p:nvGraphicFramePr>
          <p:cNvPr id="15" name="Table 0"/>
          <p:cNvGraphicFramePr/>
          <p:nvPr/>
        </p:nvGraphicFramePr>
        <p:xfrm>
          <a:off xmlns:a="http://schemas.openxmlformats.org/drawingml/2006/main" x="658368" y="1353312"/>
          <a:ext xmlns:a="http://schemas.openxmlformats.org/drawingml/2006/main" cx="6492240" cy="21031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920"/>
                <a:gridCol w="3246120"/>
                <a:gridCol w="16002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Métrica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Valor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Leitura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Banco de produção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22 MB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Muito abaixo de 10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Projeto com branches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91 MB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Ainda muito baixo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Transferência atual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~0,3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Baixa no projeto novo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Projeto antigo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/>
                        <a:t>~5,5 GB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6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Alerta de cota/Free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1EC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E9E154C-B3EE-4A1D-BEBE-9179CC46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490472"/>
            <a:ext cx="3310128" cy="96012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3C0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6096DC3-14BF-4A85-BE13-B53D0EA0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1719072"/>
            <a:ext cx="2761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22 MB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0C01F0F-8CD8-4F50-A118-6A10D24E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2011680"/>
            <a:ext cx="290779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tamanho atual do banco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8D67F77-CD95-4594-AD15-1D49F6E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2715768"/>
            <a:ext cx="1572768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D1B220A-061D-45C6-9C66-52082E1B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2944368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91 MB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66E43F0-8846-400F-9C12-28CE6BAD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218688"/>
            <a:ext cx="142646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projeto somando branches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FE3EEB26-4A54-49A2-B04B-F6661AA9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715768"/>
            <a:ext cx="1572768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61EBFBF-A602-48F2-BAC1-731282B4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2944368"/>
            <a:ext cx="135331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0,3 GB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30F46DA-91B0-4604-A6C3-7CC6D51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0" y="3218688"/>
            <a:ext cx="142646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transferência no projeto novo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E44542EE-1E9B-455F-A56C-AF804B7E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3877056"/>
            <a:ext cx="3310128" cy="1490472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7F3"/>
          </a:solidFill>
          <a:ln xmlns:a="http://schemas.openxmlformats.org/drawingml/2006/main" w="12700">
            <a:solidFill>
              <a:srgbClr val="FFD0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8FA3F2BD-604F-451E-95B4-A3F284C6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078224"/>
            <a:ext cx="2560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Leitura prática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AE4BF475-6CEA-4D43-9870-DDD44574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4315968"/>
            <a:ext cx="2743200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A Neon está muito abaixo de 10 GB. O risco aparece se os áudios originais forem gravados no Postgres ou se dashboards puxarem transcrições completas com muita frequência.</a:t>
            </a:r>
          </a:p>
        </p:txBody>
      </p:sp>
    </p:spTree>
    <p:extLst>
      <p:ext uri="{BB962C8B-B14F-4D97-AF65-F5344CB8AC3E}">
        <p14:creationId xmlns:p14="http://schemas.microsoft.com/office/powerpoint/2010/main" val="11905955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DA1733-06AC-4155-AD67-B412DF78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 bruto: onde armazenar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86B4477-C118-4F3C-AD48-A37FB360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O desenho recomendado separa banco transacional e repositório de arquivos.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97B74B-2137-4280-BDD5-805E8C80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2E75928-3C62-4AE4-80C3-D2850C79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44D80B5-1E48-4ECC-9319-6D5C52C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922D18-DF35-4D39-8D76-6D86AB1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3090672" cy="1234440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DEFE9"/>
          </a:solidFill>
          <a:ln xmlns:a="http://schemas.openxmlformats.org/drawingml/2006/main" w="12700">
            <a:solidFill>
              <a:srgbClr val="F7B9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F00CE75-C76B-4E9E-A190-82CB0FD7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508760"/>
            <a:ext cx="2286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Desenho recomendado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3544FDC-737D-4A17-8100-27DBDD48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56232"/>
            <a:ext cx="241401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 bruto fora da Neon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GCS / Huawei OBS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882D255-9E66-49E6-B582-362B3C81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16352"/>
            <a:ext cx="3090672" cy="1298448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B77FC90-EF32-4227-B187-95CACAC7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26664"/>
            <a:ext cx="241401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Banco guarda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34B61F-E87B-47D3-9BCB-9E2AE6B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264408"/>
            <a:ext cx="248716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Metadados, transcrição,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classificação e link do áudio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4F3DB0F-3554-4DF3-BD95-D3AC6EC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85032"/>
            <a:ext cx="242316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</a:p>
        </p:txBody>
      </p:sp>
      <p:graphicFrame>
        <p:nvGraphicFramePr>
          <p:cNvPr id="22" name="Table 0"/>
          <p:cNvGraphicFramePr/>
          <p:nvPr/>
        </p:nvGraphicFramePr>
        <p:xfrm>
          <a:off xmlns:a="http://schemas.openxmlformats.org/drawingml/2006/main" x="4041648" y="1426464"/>
          <a:ext xmlns:a="http://schemas.openxmlformats.org/drawingml/2006/main" cx="7150608" cy="197510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88720"/>
                <a:gridCol w="2194560"/>
                <a:gridCol w="1737360"/>
                <a:gridCol w="2029968"/>
              </a:tblGrid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Cenário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Crescimento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10 GB?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Leitura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3C0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Áudio fora do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&lt;0,1 GB/mês na Neon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Sim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Desenho recomendado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Brutos comprimidos no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~2,8 GB/mês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Sim no início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 b="1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Não recomendado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EEF7F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Brutos WAV no banco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~14 GB/mês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Não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1050">
                          <a:solidFill>
                            <a:srgbClr val="2E333D"/>
                          </a:solidFill>
                          <a:latin typeface="Bahnschrift"/>
                          <a:ea typeface="Bahnschrift"/>
                          <a:cs typeface="Bahnschrift"/>
                        </a:rPr>
                        <a:t>Estoura rápido</a:t>
                      </a:r>
                    </a:p>
                  </a:txBody>
                  <a:tcPr marL="73152" marR="73152" marT="73152" marB="73152">
                    <a:lnL w="12700">
                      <a:solidFill>
                        <a:srgbClr val="D0D0D0"/>
                      </a:solidFill>
                      <a:prstDash val="solid"/>
                    </a:lnL>
                    <a:lnR w="12700">
                      <a:solidFill>
                        <a:srgbClr val="D0D0D0"/>
                      </a:solidFill>
                      <a:prstDash val="solid"/>
                    </a:lnR>
                    <a:lnT w="12700">
                      <a:solidFill>
                        <a:srgbClr val="D0D0D0"/>
                      </a:solidFill>
                      <a:prstDash val="solid"/>
                    </a:lnT>
                    <a:lnB w="12700">
                      <a:solidFill>
                        <a:srgbClr val="D0D0D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94702A1-04FA-4711-B5F6-548EB56E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023360"/>
            <a:ext cx="7150608" cy="969264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E2CF2FCC-426D-4E6B-BD47-170F8A4A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242816"/>
            <a:ext cx="9144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Conclusão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C6F661D8-8086-4983-81B8-42E08D57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4462272"/>
            <a:ext cx="6492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Pode ser feito sem áudio bruto dentro do banco. Não é recomendado operar sem guardar o áudio em algum repositório externo, pois isso reduz replay, evidência e reprocessamento.</a:t>
            </a:r>
          </a:p>
        </p:txBody>
      </p:sp>
    </p:spTree>
    <p:extLst>
      <p:ext uri="{BB962C8B-B14F-4D97-AF65-F5344CB8AC3E}">
        <p14:creationId xmlns:p14="http://schemas.microsoft.com/office/powerpoint/2010/main" val="8285926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86431C7-96CA-418F-BCC9-039AA4A4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Impacto no orçamento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7295B9E-A2EE-4A37-9AD2-8E3BFBEF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Valores em reais para Neon, com provisão para IOF, impostos e spread; áudio bruto fica em custo separado de storage externo.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DADD1A1-B088-4D62-8337-8F5FFB64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CBBC66F-4C8A-4B18-9599-4177BDC0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9D92643-276C-4A13-AF97-3CCBDDFC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812436C-FDF3-4C8B-B746-571D299A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29ECCD-0987-48FF-BFB9-30275826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37429FB-93A8-41DC-AF01-956D6988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Neon atual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D91752F-85FE-4767-9683-B22E2EF8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~R$ 45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C1DE2BF-E5E0-46A8-BB9E-F0B7AE8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E95D43E-E4F7-40E6-BAE1-16EBCBC0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C23E97F-2387-4A90-8FDA-AAB45991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36D82CC-DC0B-4F38-A636-81F62002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~R$ 0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32917C7-6D4C-4C1A-95F4-9EE8FEF6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storage extra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2935A71-4C50-4BD8-AFAA-82DBD440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&lt; 10 GB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C24EA07-ED2D-4CB4-B57A-B366D7B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uso atual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CCAD7A19-8718-4B14-9DDA-A6EFB505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537A822-FB12-4F7C-B169-3D760713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3C02"/>
          </a:solidFill>
          <a:ln xmlns:a="http://schemas.openxmlformats.org/drawingml/2006/main" w="12700">
            <a:solidFill>
              <a:srgbClr val="FF3C0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E718BA2-A9C3-4C0F-8DE8-16FDB201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Neon base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779831D-CAE4-4CDF-B5C5-D3FB03B9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R$ 80-160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D16D81F-243F-4D67-B5D5-DCB0BDAD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4094DFE-4910-4176-BF8E-9C66140B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FFC268E-9C39-4E3E-8E29-31472F0E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819ABB4-1C8A-468F-8EF7-439BF69E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Launch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F0483CE-2CA0-4A1E-9490-5D75C39F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recomendado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E143C5E-1EF8-429E-ABA9-B95F289A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100 GB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0B5F5D87-73EA-41D1-81D7-79180AA7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272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egress incluído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4E39AB6-DC78-4460-94AC-93CC42A4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719072"/>
            <a:ext cx="2724912" cy="2331720"/>
          </a:xfrm>
          <a:prstGeom xmlns:a="http://schemas.openxmlformats.org/drawingml/2006/main" prst="roundRect">
            <a:avLst>
              <a:gd name="adj" fmla="val 54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2FCF2179-522F-43EC-ABD4-B7712ED2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719072"/>
            <a:ext cx="27249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01010"/>
          </a:solidFill>
          <a:ln xmlns:a="http://schemas.openxmlformats.org/drawingml/2006/main" w="12700">
            <a:solidFill>
              <a:srgbClr val="10101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DB072918-A363-4F7E-B033-0FA4A06E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6" y="1819656"/>
            <a:ext cx="235915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Uso pesado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F3F7F71-97D0-46BF-97F6-987934C9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340864"/>
            <a:ext cx="243230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R$ 270-430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D671CE9-9DE6-4100-8C6A-5919C243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633472"/>
            <a:ext cx="232257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por mês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CD55DB2-1E03-4E75-8143-61A582C2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D3083AF-8A15-4640-96CB-9FCDDE34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072384"/>
            <a:ext cx="1078992" cy="676656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155FEFC8-BE33-4161-81D1-40DB14EE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dashboards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41D39B49-5B7D-4CBF-862A-732D4224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 exports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7FA01EE6-D240-417C-8012-EF7F94EC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3264408"/>
            <a:ext cx="93268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&gt;100 GB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B4ED6AD8-CBE2-4D73-8A27-3CFB17C7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3474720"/>
            <a:ext cx="93268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monitorar egress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AEC8CEEA-FDE1-4E29-A9C4-7BAFECC7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34840"/>
            <a:ext cx="9144000" cy="896112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E333D"/>
          </a:solidFill>
          <a:ln xmlns:a="http://schemas.openxmlformats.org/drawingml/2006/main" w="12700">
            <a:solidFill>
              <a:srgbClr val="2E33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898AFF9A-B60A-4503-91D1-755E7304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4709160"/>
            <a:ext cx="8732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O custo acima é do banco Neon. O storage dos áudios em GCS/Huawei OBS deve ser orçado à parte, mas não consome os 10 GB da Neon quando o arquivo fica fora do Postgres.</a:t>
            </a:r>
          </a:p>
        </p:txBody>
      </p:sp>
    </p:spTree>
    <p:extLst>
      <p:ext uri="{BB962C8B-B14F-4D97-AF65-F5344CB8AC3E}">
        <p14:creationId xmlns:p14="http://schemas.microsoft.com/office/powerpoint/2010/main" val="14089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3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A5F82DD-1950-4D29-BBDD-BDF6B96E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4048"/>
            <a:ext cx="65836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Recomendação final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123E8B5-17EB-4C2B-A1EA-966BC860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41248"/>
            <a:ext cx="8229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Como armazenar áudios sem transformar a Neon em repositório de arquivos.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376DAD9-C737-420E-97F4-EBDF078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83696" y="292608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nstech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6DA0D9B-FDD7-4502-8F82-47B8DF1B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3464" y="6309360"/>
            <a:ext cx="0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7B7B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D1F3A06-D620-409C-892B-6FABACDC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2568" y="6419088"/>
            <a:ext cx="25603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4B76CD8-54EA-40D1-927B-5E93AD90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53312"/>
            <a:ext cx="6812280" cy="3529584"/>
          </a:xfrm>
          <a:prstGeom xmlns:a="http://schemas.openxmlformats.org/drawingml/2006/main" prst="roundRect">
            <a:avLst>
              <a:gd name="adj" fmla="val 3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0D0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8030129-C46B-4ECF-BB4F-71E45085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609344"/>
            <a:ext cx="630936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1. Guardar o áudio bruto em GCS/Huawei OBS, com política de retenção e acesso controlado.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2. Guardar na Neon somente metadados, transcrição, classificação, motivo, auditoria, status, hash e caminho do arquivo.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3. Usar o link do áudio para replay, reprocessamento e evidência, sem carregar o arquivo inteiro em consultas comuns.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>
              <a:buNone/>
            </a:pPr>
            <a:r>
              <a:rPr sz="112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4. Considerar IOF, impostos, spread e variação cambial no orçamento, porque Neon e storage externo podem cobrar em dólar.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8D119A0-9EDC-4ACC-92C4-E0F9EDDD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481328"/>
            <a:ext cx="3063240" cy="1444752"/>
          </a:xfrm>
          <a:prstGeom xmlns:a="http://schemas.openxmlformats.org/drawingml/2006/main" prst="roundRect">
            <a:avLst>
              <a:gd name="adj" fmla="val 8861"/>
            </a:avLst>
          </a:prstGeom>
          <a:solidFill xmlns:a="http://schemas.openxmlformats.org/drawingml/2006/main">
            <a:srgbClr val="EFF3FF"/>
          </a:solidFill>
          <a:ln xmlns:a="http://schemas.openxmlformats.org/drawingml/2006/main" w="12700">
            <a:solidFill>
              <a:srgbClr val="B9C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5C52A84-3723-46BA-83CA-21A7F0B0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691640"/>
            <a:ext cx="26517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3E6DF2"/>
                </a:solidFill>
                <a:latin typeface="Bahnschrift"/>
                <a:ea typeface="Bahnschrift"/>
                <a:cs typeface="Bahnschrift"/>
              </a:rPr>
              <a:t>Nota rápida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0E927D1-A761-4C4A-B5D4-B073CCF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901952"/>
            <a:ext cx="2651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Áudio bruto</a:t>
            </a:r>
          </a:p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fora do Postgres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E1AC4BC-50FF-480F-B951-DA37352A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542032"/>
            <a:ext cx="25786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7B7F87"/>
                </a:solidFill>
                <a:latin typeface="Bahnschrift"/>
                <a:ea typeface="Bahnschrift"/>
                <a:cs typeface="Bahnschrift"/>
              </a:rPr>
              <a:t>Esse desenho preserva a evidência da chamada e evita crescimento desnecessário no banco.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5EC06D1-3B8E-438F-8F70-F1354014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182112"/>
            <a:ext cx="3063240" cy="1700784"/>
          </a:xfrm>
          <a:prstGeom xmlns:a="http://schemas.openxmlformats.org/drawingml/2006/main" prst="roundRect">
            <a:avLst>
              <a:gd name="adj" fmla="val 7527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12700">
            <a:solidFill>
              <a:srgbClr val="FFC9B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98542E1-D104-424D-89F2-2D5F875F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438144"/>
            <a:ext cx="263347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40" b="1">
                <a:solidFill>
                  <a:srgbClr val="FF3C02"/>
                </a:solidFill>
                <a:latin typeface="Bahnschrift"/>
                <a:ea typeface="Bahnschrift"/>
                <a:cs typeface="Bahnschrift"/>
              </a:rPr>
              <a:t>Decisão prática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7A7797C-8289-4034-9E0A-734E686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840480"/>
            <a:ext cx="263347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Sim, o sistema pode operar sem dados brutos dentro da Neon. O que não recomendo é deixar de armazenar os áudios em um repositório externo.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CF5CD96-E530-4FB8-971B-8005B8BE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76672"/>
            <a:ext cx="10149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3C0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9F902E7-2704-4BAB-8CC0-A6F006E2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22976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2E333D"/>
                </a:solidFill>
                <a:latin typeface="Bahnschrift"/>
                <a:ea typeface="Bahnschrift"/>
                <a:cs typeface="Bahnschrift"/>
              </a:rPr>
              <a:t>Resumo final: o banco Neon continua abaixo de 10 GB se os áudios ficarem em GCS/Huawei OBS. A Neon deve ser usada para consulta, auditoria e rastreabilidade; o storage externo fica responsável pelos arquivos brutos.</a:t>
            </a:r>
          </a:p>
        </p:txBody>
      </p:sp>
    </p:spTree>
    <p:extLst>
      <p:ext uri="{BB962C8B-B14F-4D97-AF65-F5344CB8AC3E}">
        <p14:creationId xmlns:p14="http://schemas.microsoft.com/office/powerpoint/2010/main" val="409034323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2026-05-14T19:21:46.3010000Z</dcterms:created>
  <dcterms:modified xsi:type="dcterms:W3CDTF">2026-05-14T19:21:46.3010000Z</dcterms:modified>
</coreProperties>
</file>